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9" r:id="rId7"/>
    <p:sldId id="260" r:id="rId8"/>
    <p:sldId id="270" r:id="rId9"/>
    <p:sldId id="274" r:id="rId10"/>
    <p:sldId id="262" r:id="rId11"/>
    <p:sldId id="271" r:id="rId12"/>
    <p:sldId id="272" r:id="rId13"/>
    <p:sldId id="263" r:id="rId14"/>
    <p:sldId id="264" r:id="rId15"/>
    <p:sldId id="265" r:id="rId16"/>
    <p:sldId id="266" r:id="rId17"/>
    <p:sldId id="267" r:id="rId18"/>
    <p:sldId id="268" r:id="rId19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1" d="100"/>
          <a:sy n="41" d="100"/>
        </p:scale>
        <p:origin x="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44600" y="3556000"/>
            <a:ext cx="21844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8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字符识别的小样本</a:t>
            </a:r>
            <a:endParaRPr lang="en-US" sz="8000" dirty="0"/>
          </a:p>
          <a:p>
            <a:pPr algn="l">
              <a:lnSpc>
                <a:spcPct val="110000"/>
              </a:lnSpc>
            </a:pPr>
            <a:r>
              <a:rPr lang="en-US" sz="8000" dirty="0" err="1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图像分类系统</a:t>
            </a:r>
            <a:r>
              <a:rPr lang="en-US" sz="6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(4B)</a:t>
            </a:r>
          </a:p>
        </p:txBody>
      </p:sp>
      <p:sp>
        <p:nvSpPr>
          <p:cNvPr id="5" name="Text 3"/>
          <p:cNvSpPr/>
          <p:nvPr/>
        </p:nvSpPr>
        <p:spPr>
          <a:xfrm>
            <a:off x="1244600" y="6604000"/>
            <a:ext cx="1524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44600" y="7874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2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Team19小组作业汇报</a:t>
            </a:r>
          </a:p>
          <a:p>
            <a:pPr algn="l">
              <a:lnSpc>
                <a:spcPct val="2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成员：吴文铭 刘智勇 陈思同 易昊 刘作强</a:t>
            </a:r>
          </a:p>
        </p:txBody>
      </p:sp>
      <p:sp>
        <p:nvSpPr>
          <p:cNvPr id="7" name="Text 5"/>
          <p:cNvSpPr/>
          <p:nvPr/>
        </p:nvSpPr>
        <p:spPr>
          <a:xfrm>
            <a:off x="19050000" y="1447800"/>
            <a:ext cx="3937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2026.06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10" name="Shape 8"/>
          <p:cNvSpPr/>
          <p:nvPr/>
        </p:nvSpPr>
        <p:spPr>
          <a:xfrm>
            <a:off x="20129500" y="8382000"/>
            <a:ext cx="2908300" cy="2908300"/>
          </a:xfrm>
          <a:custGeom>
            <a:avLst/>
            <a:gdLst/>
            <a:ahLst/>
            <a:cxnLst/>
            <a:rect l="l" t="t" r="r" b="b"/>
            <a:pathLst>
              <a:path w="2908300" h="2908300">
                <a:moveTo>
                  <a:pt x="1454149" y="0"/>
                </a:moveTo>
                <a:lnTo>
                  <a:pt x="2908300" y="1454149"/>
                </a:lnTo>
                <a:lnTo>
                  <a:pt x="1454149" y="2908300"/>
                </a:lnTo>
                <a:lnTo>
                  <a:pt x="0" y="1454149"/>
                </a:lnTo>
                <a:close/>
              </a:path>
            </a:pathLst>
          </a:custGeom>
          <a:solidFill>
            <a:srgbClr val="0F1B3D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540000"/>
            <a:ext cx="10160000" cy="152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CONTENTS</a:t>
            </a:r>
            <a:endParaRPr lang="en-US" sz="10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371600" y="4826000"/>
          <a:ext cx="21640800" cy="7366000"/>
        </p:xfrm>
        <a:graphic>
          <a:graphicData uri="http://schemas.openxmlformats.org/drawingml/2006/table">
            <a:tbl>
              <a:tblPr/>
              <a:tblGrid>
                <a:gridCol w="1082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20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01  实验目标</a:t>
                      </a:r>
                      <a:endParaRPr lang="en-US" sz="32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02  数据集与环境</a:t>
                      </a:r>
                      <a:endParaRPr lang="en-US" sz="32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20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03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环境说明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04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数据样例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0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05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任务采样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06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 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采样验证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200"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07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模型方法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08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训练过程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200"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09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实验结果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10</a:t>
                      </a:r>
                      <a:r>
                        <a:rPr lang="zh-CN" altLang="en-US" sz="32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总结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实验目标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EXPERIMENT GOALS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grpSp>
        <p:nvGrpSpPr>
          <p:cNvPr id="19" name="组合 18"/>
          <p:cNvGrpSpPr/>
          <p:nvPr/>
        </p:nvGrpSpPr>
        <p:grpSpPr>
          <a:xfrm>
            <a:off x="1371600" y="4826000"/>
            <a:ext cx="9880600" cy="7366000"/>
            <a:chOff x="2160" y="7600"/>
            <a:chExt cx="10600" cy="11600"/>
          </a:xfrm>
        </p:grpSpPr>
        <p:sp>
          <p:nvSpPr>
            <p:cNvPr id="7" name="Shape 5"/>
            <p:cNvSpPr/>
            <p:nvPr/>
          </p:nvSpPr>
          <p:spPr>
            <a:xfrm>
              <a:off x="2160" y="7600"/>
              <a:ext cx="10600" cy="116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2960" y="840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-23812"/>
                  </a:moveTo>
                  <a:cubicBezTo>
                    <a:pt x="404416" y="-23812"/>
                    <a:pt x="423333" y="-2530"/>
                    <a:pt x="423333" y="23812"/>
                  </a:cubicBezTo>
                  <a:lnTo>
                    <a:pt x="423333" y="51048"/>
                  </a:lnTo>
                  <a:cubicBezTo>
                    <a:pt x="553111" y="71884"/>
                    <a:pt x="655770" y="187375"/>
                    <a:pt x="674291" y="333375"/>
                  </a:cubicBezTo>
                  <a:lnTo>
                    <a:pt x="698500" y="333375"/>
                  </a:lnTo>
                  <a:cubicBezTo>
                    <a:pt x="721916" y="333375"/>
                    <a:pt x="740833" y="354657"/>
                    <a:pt x="740833" y="381000"/>
                  </a:cubicBezTo>
                  <a:cubicBezTo>
                    <a:pt x="740833" y="407343"/>
                    <a:pt x="721916" y="428625"/>
                    <a:pt x="698500" y="428625"/>
                  </a:cubicBezTo>
                  <a:lnTo>
                    <a:pt x="674291" y="428625"/>
                  </a:lnTo>
                  <a:cubicBezTo>
                    <a:pt x="655770" y="574625"/>
                    <a:pt x="553111" y="690116"/>
                    <a:pt x="423333" y="710952"/>
                  </a:cubicBezTo>
                  <a:lnTo>
                    <a:pt x="423333" y="738188"/>
                  </a:lnTo>
                  <a:cubicBezTo>
                    <a:pt x="423333" y="764530"/>
                    <a:pt x="404416" y="785813"/>
                    <a:pt x="381000" y="785813"/>
                  </a:cubicBezTo>
                  <a:cubicBezTo>
                    <a:pt x="357584" y="785813"/>
                    <a:pt x="338667" y="764530"/>
                    <a:pt x="338667" y="738188"/>
                  </a:cubicBezTo>
                  <a:lnTo>
                    <a:pt x="338667" y="710952"/>
                  </a:lnTo>
                  <a:cubicBezTo>
                    <a:pt x="208889" y="690116"/>
                    <a:pt x="106230" y="574625"/>
                    <a:pt x="87709" y="428625"/>
                  </a:cubicBezTo>
                  <a:lnTo>
                    <a:pt x="63500" y="428625"/>
                  </a:lnTo>
                  <a:cubicBezTo>
                    <a:pt x="40084" y="428625"/>
                    <a:pt x="21167" y="407343"/>
                    <a:pt x="21167" y="381000"/>
                  </a:cubicBezTo>
                  <a:cubicBezTo>
                    <a:pt x="21167" y="354657"/>
                    <a:pt x="40084" y="333375"/>
                    <a:pt x="63500" y="333375"/>
                  </a:cubicBezTo>
                  <a:lnTo>
                    <a:pt x="87709" y="333375"/>
                  </a:lnTo>
                  <a:cubicBezTo>
                    <a:pt x="106230" y="187375"/>
                    <a:pt x="208889" y="71884"/>
                    <a:pt x="338667" y="51048"/>
                  </a:cubicBezTo>
                  <a:lnTo>
                    <a:pt x="338667" y="23812"/>
                  </a:lnTo>
                  <a:cubicBezTo>
                    <a:pt x="338667" y="-2530"/>
                    <a:pt x="357584" y="-23812"/>
                    <a:pt x="381000" y="-23812"/>
                  </a:cubicBezTo>
                  <a:close/>
                  <a:moveTo>
                    <a:pt x="173567" y="428625"/>
                  </a:moveTo>
                  <a:cubicBezTo>
                    <a:pt x="190368" y="521940"/>
                    <a:pt x="255720" y="595461"/>
                    <a:pt x="338667" y="614363"/>
                  </a:cubicBezTo>
                  <a:lnTo>
                    <a:pt x="338667" y="595313"/>
                  </a:lnTo>
                  <a:cubicBezTo>
                    <a:pt x="338667" y="568970"/>
                    <a:pt x="357584" y="547687"/>
                    <a:pt x="381000" y="547687"/>
                  </a:cubicBezTo>
                  <a:cubicBezTo>
                    <a:pt x="404416" y="547687"/>
                    <a:pt x="423333" y="568970"/>
                    <a:pt x="423333" y="595313"/>
                  </a:cubicBezTo>
                  <a:lnTo>
                    <a:pt x="423333" y="614363"/>
                  </a:lnTo>
                  <a:cubicBezTo>
                    <a:pt x="506280" y="595461"/>
                    <a:pt x="571632" y="521940"/>
                    <a:pt x="588433" y="428625"/>
                  </a:cubicBezTo>
                  <a:lnTo>
                    <a:pt x="571500" y="428625"/>
                  </a:lnTo>
                  <a:cubicBezTo>
                    <a:pt x="548084" y="428625"/>
                    <a:pt x="529167" y="407343"/>
                    <a:pt x="529167" y="381000"/>
                  </a:cubicBezTo>
                  <a:cubicBezTo>
                    <a:pt x="529167" y="354657"/>
                    <a:pt x="548084" y="333375"/>
                    <a:pt x="571500" y="333375"/>
                  </a:cubicBezTo>
                  <a:lnTo>
                    <a:pt x="588433" y="333375"/>
                  </a:lnTo>
                  <a:cubicBezTo>
                    <a:pt x="571632" y="240060"/>
                    <a:pt x="506280" y="166539"/>
                    <a:pt x="423333" y="147638"/>
                  </a:cubicBezTo>
                  <a:lnTo>
                    <a:pt x="423333" y="166688"/>
                  </a:lnTo>
                  <a:cubicBezTo>
                    <a:pt x="423333" y="193030"/>
                    <a:pt x="404416" y="214313"/>
                    <a:pt x="381000" y="214313"/>
                  </a:cubicBezTo>
                  <a:cubicBezTo>
                    <a:pt x="357584" y="214313"/>
                    <a:pt x="338667" y="193030"/>
                    <a:pt x="338667" y="166688"/>
                  </a:cubicBezTo>
                  <a:lnTo>
                    <a:pt x="338667" y="147638"/>
                  </a:lnTo>
                  <a:cubicBezTo>
                    <a:pt x="255720" y="166539"/>
                    <a:pt x="190368" y="240060"/>
                    <a:pt x="173567" y="333375"/>
                  </a:cubicBezTo>
                  <a:lnTo>
                    <a:pt x="190500" y="333375"/>
                  </a:lnTo>
                  <a:cubicBezTo>
                    <a:pt x="213916" y="333375"/>
                    <a:pt x="232833" y="354657"/>
                    <a:pt x="232833" y="381000"/>
                  </a:cubicBezTo>
                  <a:cubicBezTo>
                    <a:pt x="232833" y="407343"/>
                    <a:pt x="213916" y="428625"/>
                    <a:pt x="190500" y="428625"/>
                  </a:cubicBezTo>
                  <a:lnTo>
                    <a:pt x="173567" y="428625"/>
                  </a:lnTo>
                  <a:close/>
                  <a:moveTo>
                    <a:pt x="381000" y="309563"/>
                  </a:moveTo>
                  <a:cubicBezTo>
                    <a:pt x="416047" y="309563"/>
                    <a:pt x="444500" y="341573"/>
                    <a:pt x="444500" y="381000"/>
                  </a:cubicBezTo>
                  <a:cubicBezTo>
                    <a:pt x="444500" y="420427"/>
                    <a:pt x="416047" y="452438"/>
                    <a:pt x="381000" y="452438"/>
                  </a:cubicBezTo>
                  <a:cubicBezTo>
                    <a:pt x="345953" y="452438"/>
                    <a:pt x="317500" y="420427"/>
                    <a:pt x="317500" y="381000"/>
                  </a:cubicBezTo>
                  <a:cubicBezTo>
                    <a:pt x="317500" y="341573"/>
                    <a:pt x="345953" y="309563"/>
                    <a:pt x="381000" y="309563"/>
                  </a:cubicBezTo>
                  <a:close/>
                </a:path>
              </a:pathLst>
            </a:custGeom>
            <a:solidFill>
              <a:srgbClr val="4361EE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2960" y="10000"/>
              <a:ext cx="9000" cy="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3200" b="1" dirty="0"/>
                <a:t>背景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3005" y="11200"/>
              <a:ext cx="9000" cy="4313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ct val="200000"/>
                </a:lnSpc>
              </a:pPr>
              <a:r>
                <a:rPr lang="zh-CN" altLang="en-US" sz="2800" dirty="0">
                  <a:latin typeface="+mn-ea"/>
                </a:rPr>
                <a:t>在许多实际场景中（如稀有鸟类分类、新药分子识别），每类只有少量样本。小样本学习（</a:t>
              </a:r>
              <a:r>
                <a:rPr lang="en-US" altLang="zh-CN" sz="2800" dirty="0">
                  <a:latin typeface="+mn-ea"/>
                </a:rPr>
                <a:t>Few-Shot Learning）</a:t>
              </a:r>
              <a:r>
                <a:rPr lang="zh-CN" altLang="en-US" sz="2800" dirty="0">
                  <a:latin typeface="+mn-ea"/>
                </a:rPr>
                <a:t>旨在</a:t>
              </a:r>
              <a:r>
                <a:rPr lang="zh-CN" altLang="en-US" sz="2800" b="1" dirty="0">
                  <a:latin typeface="+mn-ea"/>
                </a:rPr>
                <a:t>用极少样本训练出有效分类器</a:t>
              </a:r>
              <a:r>
                <a:rPr lang="zh-CN" altLang="en-US" sz="2800" dirty="0">
                  <a:latin typeface="+mn-ea"/>
                </a:rPr>
                <a:t>，与课程中学习的度量学习思想密切相关</a:t>
              </a:r>
              <a:r>
                <a:rPr lang="zh-CN" altLang="en-US" sz="2800" dirty="0"/>
                <a:t>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497945" y="4826000"/>
            <a:ext cx="11514455" cy="7366000"/>
            <a:chOff x="13900" y="7600"/>
            <a:chExt cx="10600" cy="11600"/>
          </a:xfrm>
        </p:grpSpPr>
        <p:sp>
          <p:nvSpPr>
            <p:cNvPr id="11" name="Shape 9"/>
            <p:cNvSpPr/>
            <p:nvPr/>
          </p:nvSpPr>
          <p:spPr>
            <a:xfrm>
              <a:off x="13900" y="7600"/>
              <a:ext cx="10600" cy="11600"/>
            </a:xfrm>
            <a:prstGeom prst="roundRect">
              <a:avLst>
                <a:gd name="adj" fmla="val 8000"/>
              </a:avLst>
            </a:prstGeom>
            <a:solidFill>
              <a:srgbClr val="F8F9FA"/>
            </a:solidFill>
            <a:ln w="12700">
              <a:solidFill>
                <a:srgbClr val="E0E0E0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14700" y="840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95250" y="95250"/>
                  </a:moveTo>
                  <a:cubicBezTo>
                    <a:pt x="95250" y="68907"/>
                    <a:pt x="73968" y="47625"/>
                    <a:pt x="47625" y="47625"/>
                  </a:cubicBezTo>
                  <a:cubicBezTo>
                    <a:pt x="21282" y="47625"/>
                    <a:pt x="0" y="68907"/>
                    <a:pt x="0" y="95250"/>
                  </a:cubicBezTo>
                  <a:lnTo>
                    <a:pt x="0" y="595313"/>
                  </a:lnTo>
                  <a:cubicBezTo>
                    <a:pt x="0" y="661095"/>
                    <a:pt x="53280" y="714375"/>
                    <a:pt x="119063" y="714375"/>
                  </a:cubicBezTo>
                  <a:lnTo>
                    <a:pt x="714375" y="714375"/>
                  </a:lnTo>
                  <a:cubicBezTo>
                    <a:pt x="740718" y="714375"/>
                    <a:pt x="762000" y="693093"/>
                    <a:pt x="762000" y="666750"/>
                  </a:cubicBezTo>
                  <a:cubicBezTo>
                    <a:pt x="762000" y="640407"/>
                    <a:pt x="740718" y="619125"/>
                    <a:pt x="714375" y="619125"/>
                  </a:cubicBezTo>
                  <a:lnTo>
                    <a:pt x="119063" y="619125"/>
                  </a:lnTo>
                  <a:cubicBezTo>
                    <a:pt x="105966" y="619125"/>
                    <a:pt x="95250" y="608409"/>
                    <a:pt x="95250" y="595313"/>
                  </a:cubicBezTo>
                  <a:lnTo>
                    <a:pt x="95250" y="95250"/>
                  </a:lnTo>
                  <a:close/>
                  <a:moveTo>
                    <a:pt x="700385" y="224135"/>
                  </a:moveTo>
                  <a:cubicBezTo>
                    <a:pt x="718989" y="205532"/>
                    <a:pt x="718989" y="175320"/>
                    <a:pt x="700385" y="156716"/>
                  </a:cubicBezTo>
                  <a:cubicBezTo>
                    <a:pt x="681782" y="138113"/>
                    <a:pt x="651570" y="138113"/>
                    <a:pt x="632966" y="156716"/>
                  </a:cubicBezTo>
                  <a:lnTo>
                    <a:pt x="476250" y="313581"/>
                  </a:lnTo>
                  <a:lnTo>
                    <a:pt x="390823" y="228302"/>
                  </a:lnTo>
                  <a:cubicBezTo>
                    <a:pt x="372219" y="209699"/>
                    <a:pt x="342007" y="209699"/>
                    <a:pt x="323404" y="228302"/>
                  </a:cubicBezTo>
                  <a:lnTo>
                    <a:pt x="180529" y="371177"/>
                  </a:lnTo>
                  <a:cubicBezTo>
                    <a:pt x="161925" y="389781"/>
                    <a:pt x="161925" y="419993"/>
                    <a:pt x="180529" y="438596"/>
                  </a:cubicBezTo>
                  <a:cubicBezTo>
                    <a:pt x="199132" y="457200"/>
                    <a:pt x="229344" y="457200"/>
                    <a:pt x="247948" y="438596"/>
                  </a:cubicBezTo>
                  <a:lnTo>
                    <a:pt x="357188" y="329357"/>
                  </a:lnTo>
                  <a:lnTo>
                    <a:pt x="442615" y="414784"/>
                  </a:lnTo>
                  <a:cubicBezTo>
                    <a:pt x="461218" y="433388"/>
                    <a:pt x="491430" y="433388"/>
                    <a:pt x="510034" y="414784"/>
                  </a:cubicBezTo>
                  <a:lnTo>
                    <a:pt x="700534" y="224284"/>
                  </a:lnTo>
                  <a:close/>
                </a:path>
              </a:pathLst>
            </a:custGeom>
            <a:solidFill>
              <a:srgbClr val="4361EE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4700" y="10000"/>
              <a:ext cx="9000" cy="1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zh-CN" altLang="en-US" sz="3200" b="1" dirty="0"/>
                <a:t>核心任务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14700" y="11200"/>
              <a:ext cx="9755" cy="735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>
                <a:lnSpc>
                  <a:spcPct val="200000"/>
                </a:lnSpc>
              </a:pPr>
              <a:r>
                <a:rPr lang="zh-CN" altLang="en-US" sz="2500" dirty="0">
                  <a:latin typeface="+mn-ea"/>
                </a:rPr>
                <a:t>1. 实现原型网络（</a:t>
              </a:r>
              <a:r>
                <a:rPr lang="en-US" altLang="zh-CN" sz="2500" dirty="0">
                  <a:latin typeface="+mn-ea"/>
                </a:rPr>
                <a:t>Prototypical Network</a:t>
              </a:r>
              <a:r>
                <a:rPr lang="zh-CN" altLang="en-US" sz="2500" dirty="0">
                  <a:latin typeface="+mn-ea"/>
                </a:rPr>
                <a:t>）用于</a:t>
              </a:r>
              <a:r>
                <a:rPr lang="zh-CN" altLang="en-US" sz="2500" b="1" dirty="0">
                  <a:latin typeface="+mn-ea"/>
                </a:rPr>
                <a:t> 5-</a:t>
              </a:r>
              <a:r>
                <a:rPr lang="en-US" altLang="zh-CN" sz="2500" b="1" dirty="0">
                  <a:latin typeface="+mn-ea"/>
                </a:rPr>
                <a:t>way 5-shot </a:t>
              </a:r>
              <a:r>
                <a:rPr lang="zh-CN" altLang="en-US" sz="2500" dirty="0">
                  <a:latin typeface="+mn-ea"/>
                </a:rPr>
                <a:t>分类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500" dirty="0">
                  <a:latin typeface="+mn-ea"/>
                </a:rPr>
                <a:t>2. 使用</a:t>
              </a:r>
              <a:r>
                <a:rPr lang="en-US" altLang="zh-CN" sz="2500" b="1" dirty="0">
                  <a:latin typeface="+mn-ea"/>
                </a:rPr>
                <a:t>Omniglot</a:t>
              </a:r>
              <a:r>
                <a:rPr lang="zh-CN" altLang="en-US" sz="2500" dirty="0">
                  <a:latin typeface="+mn-ea"/>
                </a:rPr>
                <a:t>作为基准数据集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500" dirty="0">
                  <a:latin typeface="+mn-ea"/>
                </a:rPr>
                <a:t>3. 对比” 基于度量的方法” 和” 基于微调的方法” 在小样本场景下的性能差异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500" dirty="0">
                  <a:latin typeface="+mn-ea"/>
                </a:rPr>
                <a:t>4. 实现 </a:t>
              </a:r>
              <a:r>
                <a:rPr lang="en-US" altLang="zh-CN" sz="2500" b="1" dirty="0">
                  <a:latin typeface="+mn-ea"/>
                </a:rPr>
                <a:t>episodic training pipeline</a:t>
              </a:r>
              <a:r>
                <a:rPr lang="en-US" altLang="zh-CN" sz="2500" dirty="0">
                  <a:latin typeface="+mn-ea"/>
                </a:rPr>
                <a:t>，</a:t>
              </a:r>
              <a:r>
                <a:rPr lang="zh-CN" altLang="en-US" sz="2500" dirty="0">
                  <a:latin typeface="+mn-ea"/>
                </a:rPr>
                <a:t>每轮随机采样 </a:t>
              </a:r>
              <a:r>
                <a:rPr lang="en-US" altLang="zh-CN" sz="2500" b="1" dirty="0">
                  <a:latin typeface="+mn-ea"/>
                </a:rPr>
                <a:t>support set </a:t>
              </a:r>
              <a:r>
                <a:rPr lang="zh-CN" altLang="en-US" sz="2500" dirty="0">
                  <a:latin typeface="+mn-ea"/>
                </a:rPr>
                <a:t>和 </a:t>
              </a:r>
              <a:r>
                <a:rPr lang="en-US" altLang="zh-CN" sz="2500" b="1" dirty="0">
                  <a:latin typeface="+mn-ea"/>
                </a:rPr>
                <a:t>query set</a:t>
              </a:r>
            </a:p>
            <a:p>
              <a:pPr algn="l">
                <a:lnSpc>
                  <a:spcPct val="200000"/>
                </a:lnSpc>
              </a:pPr>
              <a:r>
                <a:rPr lang="zh-CN" altLang="en-US" sz="2500" dirty="0">
                  <a:latin typeface="+mn-ea"/>
                </a:rPr>
                <a:t>5. 分析不同 </a:t>
              </a:r>
              <a:r>
                <a:rPr lang="en-US" altLang="zh-CN" sz="2500" dirty="0">
                  <a:latin typeface="+mn-ea"/>
                </a:rPr>
                <a:t>shot </a:t>
              </a:r>
              <a:r>
                <a:rPr lang="zh-CN" altLang="en-US" sz="2500" dirty="0">
                  <a:latin typeface="+mn-ea"/>
                </a:rPr>
                <a:t>数量（1-</a:t>
              </a:r>
              <a:r>
                <a:rPr lang="en-US" altLang="zh-CN" sz="2500" dirty="0">
                  <a:latin typeface="+mn-ea"/>
                </a:rPr>
                <a:t>shot, 5-shot, 10-shot）</a:t>
              </a:r>
              <a:r>
                <a:rPr lang="zh-CN" altLang="en-US" sz="2500" dirty="0">
                  <a:latin typeface="+mn-ea"/>
                </a:rPr>
                <a:t>下模型性能的变化趋势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数据集介绍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DATASET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371600" y="4826000"/>
          <a:ext cx="21640800" cy="775335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85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属性</a:t>
                      </a:r>
                      <a:endParaRPr lang="en-US" sz="28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28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686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数据集名称</a:t>
                      </a:r>
                      <a:endParaRPr lang="en-US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Omniglot 数据集</a:t>
                      </a:r>
                      <a:endParaRPr lang="en-US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686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数据集简介</a:t>
                      </a:r>
                      <a:endParaRPr lang="en-US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Omniglot </a:t>
                      </a:r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是小样本学习中常用的数据集，里面主要是不同语言或符号系统中的手写字符图片。它的特点是类别很多，但每个类别的样本数量不算多，所以很适合做 </a:t>
                      </a:r>
                      <a:r>
                        <a:rPr lang="en-US" altLang="zh-CN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Few-Shot Learning </a:t>
                      </a:r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小样本图像分类。</a:t>
                      </a:r>
                      <a:endParaRPr lang="en-US" altLang="zh-CN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421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数据规模</a:t>
                      </a:r>
                      <a:endParaRPr lang="en-US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训练集大小：19280</a:t>
                      </a:r>
                    </a:p>
                    <a:p>
                      <a:pPr algn="l"/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测试集大小：13180</a:t>
                      </a:r>
                    </a:p>
                    <a:p>
                      <a:pPr algn="l"/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训练类别数量：964</a:t>
                      </a:r>
                    </a:p>
                    <a:p>
                      <a:pPr algn="l"/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测试类别数量：659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6860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其他信息</a:t>
                      </a:r>
                      <a:endParaRPr lang="en-US" sz="26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Omniglot </a:t>
                      </a:r>
                      <a:r>
                        <a:rPr lang="zh-CN" altLang="en-US" sz="2600" dirty="0">
                          <a:latin typeface="Quattrocento Sans" pitchFamily="34" charset="0"/>
                          <a:ea typeface="Quattrocento Sans" pitchFamily="34" charset="0"/>
                          <a:cs typeface="Quattrocento Sans" pitchFamily="34" charset="0"/>
                        </a:rPr>
                        <a:t>中包含大量字符类别，可以支持小样本分类实验。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22375" y="317817"/>
            <a:ext cx="9461500" cy="1308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/>
              <a:t>from </a:t>
            </a:r>
            <a:r>
              <a:rPr lang="en-US" altLang="zh-CN" sz="2400" dirty="0" err="1"/>
              <a:t>torchvision.datasets</a:t>
            </a:r>
            <a:r>
              <a:rPr lang="en-US" altLang="zh-CN" sz="2400" dirty="0"/>
              <a:t> import </a:t>
            </a:r>
            <a:r>
              <a:rPr lang="en-US" altLang="zh-CN" sz="2400" dirty="0" err="1"/>
              <a:t>Omniglot</a:t>
            </a:r>
            <a:endParaRPr lang="en-US" altLang="zh-CN" sz="2400" dirty="0"/>
          </a:p>
          <a:p>
            <a:r>
              <a:rPr lang="en-US" altLang="zh-CN" sz="2400" dirty="0"/>
              <a:t>from </a:t>
            </a:r>
            <a:r>
              <a:rPr lang="en-US" altLang="zh-CN" sz="2400" dirty="0" err="1"/>
              <a:t>torchvision</a:t>
            </a:r>
            <a:r>
              <a:rPr lang="en-US" altLang="zh-CN" sz="2400" dirty="0"/>
              <a:t> import transforms</a:t>
            </a:r>
          </a:p>
          <a:p>
            <a:r>
              <a:rPr lang="en-US" altLang="zh-CN" sz="2400" dirty="0"/>
              <a:t>import </a:t>
            </a:r>
            <a:r>
              <a:rPr lang="en-US" altLang="zh-CN" sz="2400" dirty="0" err="1"/>
              <a:t>matplotlib.pyplot</a:t>
            </a:r>
            <a:r>
              <a:rPr lang="en-US" altLang="zh-CN" sz="2400" dirty="0"/>
              <a:t> as </a:t>
            </a:r>
            <a:r>
              <a:rPr lang="en-US" altLang="zh-CN" sz="2400" dirty="0" err="1"/>
              <a:t>plt</a:t>
            </a:r>
            <a:endParaRPr lang="en-US" altLang="zh-CN" sz="2400" dirty="0"/>
          </a:p>
          <a:p>
            <a:r>
              <a:rPr lang="en-US" altLang="zh-CN" sz="2400" dirty="0"/>
              <a:t>import </a:t>
            </a:r>
            <a:r>
              <a:rPr lang="en-US" altLang="zh-CN" sz="2400" dirty="0" err="1"/>
              <a:t>os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os.makedirs</a:t>
            </a:r>
            <a:r>
              <a:rPr lang="en-US" altLang="zh-CN" sz="2400" dirty="0"/>
              <a:t>("outputs", </a:t>
            </a:r>
            <a:r>
              <a:rPr lang="en-US" altLang="zh-CN" sz="2400" dirty="0" err="1"/>
              <a:t>exist_ok</a:t>
            </a:r>
            <a:r>
              <a:rPr lang="en-US" altLang="zh-CN" sz="2400" dirty="0"/>
              <a:t>=True)</a:t>
            </a:r>
          </a:p>
          <a:p>
            <a:endParaRPr lang="en-US" altLang="zh-CN" sz="2400" dirty="0"/>
          </a:p>
          <a:p>
            <a:r>
              <a:rPr lang="en-US" altLang="zh-CN" sz="2400" dirty="0"/>
              <a:t>transform = </a:t>
            </a:r>
            <a:r>
              <a:rPr lang="en-US" altLang="zh-CN" sz="2400" dirty="0" err="1"/>
              <a:t>transforms.Compose</a:t>
            </a:r>
            <a:r>
              <a:rPr lang="en-US" altLang="zh-CN" sz="2400" dirty="0"/>
              <a:t>([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transforms.Resize</a:t>
            </a:r>
            <a:r>
              <a:rPr lang="en-US" altLang="zh-CN" sz="2400" dirty="0"/>
              <a:t>((28, 28)),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transforms.ToTensor</a:t>
            </a:r>
            <a:r>
              <a:rPr lang="en-US" altLang="zh-CN" sz="2400" dirty="0"/>
              <a:t>()</a:t>
            </a:r>
          </a:p>
          <a:p>
            <a:r>
              <a:rPr lang="en-US" altLang="zh-CN" sz="2400" dirty="0"/>
              <a:t>])</a:t>
            </a:r>
          </a:p>
          <a:p>
            <a:endParaRPr lang="en-US" altLang="zh-CN" sz="2400" dirty="0"/>
          </a:p>
          <a:p>
            <a:r>
              <a:rPr lang="en-US" altLang="zh-CN" sz="2400" dirty="0"/>
              <a:t>dataset = </a:t>
            </a:r>
            <a:r>
              <a:rPr lang="en-US" altLang="zh-CN" sz="2400" dirty="0" err="1"/>
              <a:t>Omniglot</a:t>
            </a:r>
            <a:r>
              <a:rPr lang="en-US" altLang="zh-CN" sz="2400" dirty="0"/>
              <a:t>(</a:t>
            </a:r>
          </a:p>
          <a:p>
            <a:r>
              <a:rPr lang="en-US" altLang="zh-CN" sz="2400" dirty="0"/>
              <a:t>    root="./data",</a:t>
            </a:r>
          </a:p>
          <a:p>
            <a:r>
              <a:rPr lang="en-US" altLang="zh-CN" sz="2400" dirty="0"/>
              <a:t>    background=True,</a:t>
            </a:r>
          </a:p>
          <a:p>
            <a:r>
              <a:rPr lang="en-US" altLang="zh-CN" sz="2400" dirty="0"/>
              <a:t>    transform=transform,</a:t>
            </a:r>
          </a:p>
          <a:p>
            <a:r>
              <a:rPr lang="en-US" altLang="zh-CN" sz="2400" dirty="0"/>
              <a:t>    download=True</a:t>
            </a:r>
          </a:p>
          <a:p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print("</a:t>
            </a:r>
            <a:r>
              <a:rPr lang="zh-CN" altLang="en-US" sz="2400" dirty="0"/>
              <a:t>数据集大小：",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(dataset))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img</a:t>
            </a:r>
            <a:r>
              <a:rPr lang="en-US" altLang="zh-CN" sz="2400" dirty="0"/>
              <a:t>, label = dataset[0]</a:t>
            </a:r>
          </a:p>
          <a:p>
            <a:endParaRPr lang="en-US" altLang="zh-CN" sz="2400" dirty="0"/>
          </a:p>
          <a:p>
            <a:r>
              <a:rPr lang="en-US" altLang="zh-CN" sz="2400" dirty="0"/>
              <a:t>print("</a:t>
            </a:r>
            <a:r>
              <a:rPr lang="zh-CN" altLang="en-US" sz="2400" dirty="0"/>
              <a:t>图片形状：", </a:t>
            </a:r>
            <a:r>
              <a:rPr lang="en-US" altLang="zh-CN" sz="2400" dirty="0" err="1"/>
              <a:t>img.shape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print("</a:t>
            </a:r>
            <a:r>
              <a:rPr lang="zh-CN" altLang="en-US" sz="2400" dirty="0"/>
              <a:t>图片标签：", </a:t>
            </a:r>
            <a:r>
              <a:rPr lang="en-US" altLang="zh-CN" sz="2400" dirty="0"/>
              <a:t>label)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plt.figure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figsize</a:t>
            </a:r>
            <a:r>
              <a:rPr lang="en-US" altLang="zh-CN" sz="2400" dirty="0"/>
              <a:t>=(4, 4))</a:t>
            </a:r>
          </a:p>
          <a:p>
            <a:r>
              <a:rPr lang="en-US" altLang="zh-CN" sz="2400" dirty="0" err="1"/>
              <a:t>plt.imshow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img.squeeze</a:t>
            </a:r>
            <a:r>
              <a:rPr lang="en-US" altLang="zh-CN" sz="2400" dirty="0"/>
              <a:t>(), </a:t>
            </a:r>
            <a:r>
              <a:rPr lang="en-US" altLang="zh-CN" sz="2400" dirty="0" err="1"/>
              <a:t>cmap</a:t>
            </a:r>
            <a:r>
              <a:rPr lang="en-US" altLang="zh-CN" sz="2400" dirty="0"/>
              <a:t>="gray")</a:t>
            </a:r>
          </a:p>
          <a:p>
            <a:r>
              <a:rPr lang="en-US" altLang="zh-CN" sz="2400" dirty="0" err="1"/>
              <a:t>plt.title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f"Omniglot</a:t>
            </a:r>
            <a:r>
              <a:rPr lang="en-US" altLang="zh-CN" sz="2400" dirty="0"/>
              <a:t> Sample, Label: {label}")</a:t>
            </a:r>
          </a:p>
          <a:p>
            <a:r>
              <a:rPr lang="en-US" altLang="zh-CN" sz="2400" dirty="0" err="1"/>
              <a:t>plt.axis</a:t>
            </a:r>
            <a:r>
              <a:rPr lang="en-US" altLang="zh-CN" sz="2400" dirty="0"/>
              <a:t>("off")</a:t>
            </a:r>
          </a:p>
          <a:p>
            <a:r>
              <a:rPr lang="en-US" altLang="zh-CN" sz="2400" dirty="0" err="1"/>
              <a:t>plt.savefig</a:t>
            </a:r>
            <a:r>
              <a:rPr lang="en-US" altLang="zh-CN" sz="2400" dirty="0"/>
              <a:t>("outputs/02_omniglot_single_sample.png", dpi=200, </a:t>
            </a:r>
            <a:r>
              <a:rPr lang="en-US" altLang="zh-CN" sz="2400" dirty="0" err="1"/>
              <a:t>bbox_inches</a:t>
            </a:r>
            <a:r>
              <a:rPr lang="en-US" altLang="zh-CN" sz="2400" dirty="0"/>
              <a:t>="tight")</a:t>
            </a:r>
          </a:p>
          <a:p>
            <a:r>
              <a:rPr lang="en-US" altLang="zh-CN" sz="2400" dirty="0" err="1"/>
              <a:t>plt.show</a:t>
            </a:r>
            <a:r>
              <a:rPr lang="en-US" altLang="zh-CN" sz="2400" dirty="0"/>
              <a:t>()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print("</a:t>
            </a:r>
            <a:r>
              <a:rPr lang="zh-CN" altLang="en-US" sz="2400" dirty="0"/>
              <a:t>图片已保存：</a:t>
            </a:r>
            <a:r>
              <a:rPr lang="en-US" altLang="zh-CN" sz="2400" dirty="0"/>
              <a:t>outputs/02_omniglot_single_sample.png")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683875" y="1158875"/>
            <a:ext cx="8128000" cy="1838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5400" dirty="0"/>
              <a:t>用于展示 </a:t>
            </a:r>
            <a:r>
              <a:rPr lang="en-US" altLang="zh-CN" sz="5400" dirty="0" err="1"/>
              <a:t>Omniglot</a:t>
            </a:r>
            <a:r>
              <a:rPr lang="en-US" altLang="zh-CN" sz="5400" dirty="0"/>
              <a:t> </a:t>
            </a:r>
            <a:r>
              <a:rPr lang="zh-CN" altLang="en-US" sz="5400" dirty="0"/>
              <a:t>数据集中的单张样例图片。</a:t>
            </a:r>
          </a:p>
          <a:p>
            <a:endParaRPr lang="zh-CN" altLang="en-US" sz="5400" dirty="0"/>
          </a:p>
        </p:txBody>
      </p:sp>
      <p:pic>
        <p:nvPicPr>
          <p:cNvPr id="4" name="图片 3" descr="02_omniglot_single_samp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875" y="4334115"/>
            <a:ext cx="6973753" cy="740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环境说明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ENVIRONMENT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96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53" y="298400"/>
                </a:moveTo>
                <a:cubicBezTo>
                  <a:pt x="734956" y="252413"/>
                  <a:pt x="710123" y="217736"/>
                  <a:pt x="657225" y="217736"/>
                </a:cubicBezTo>
                <a:lnTo>
                  <a:pt x="589019" y="217736"/>
                </a:lnTo>
                <a:lnTo>
                  <a:pt x="589019" y="288280"/>
                </a:lnTo>
                <a:cubicBezTo>
                  <a:pt x="589019" y="343049"/>
                  <a:pt x="535951" y="389186"/>
                  <a:pt x="475400" y="389186"/>
                </a:cubicBezTo>
                <a:lnTo>
                  <a:pt x="293744" y="389186"/>
                </a:lnTo>
                <a:cubicBezTo>
                  <a:pt x="244078" y="389186"/>
                  <a:pt x="202917" y="426393"/>
                  <a:pt x="202917" y="469999"/>
                </a:cubicBezTo>
                <a:lnTo>
                  <a:pt x="202917" y="621506"/>
                </a:lnTo>
                <a:cubicBezTo>
                  <a:pt x="202917" y="664666"/>
                  <a:pt x="245779" y="689967"/>
                  <a:pt x="293744" y="702320"/>
                </a:cubicBezTo>
                <a:cubicBezTo>
                  <a:pt x="351234" y="717054"/>
                  <a:pt x="406513" y="719733"/>
                  <a:pt x="475400" y="702320"/>
                </a:cubicBezTo>
                <a:cubicBezTo>
                  <a:pt x="521154" y="690711"/>
                  <a:pt x="566227" y="667345"/>
                  <a:pt x="566227" y="621506"/>
                </a:cubicBezTo>
                <a:lnTo>
                  <a:pt x="566227" y="560933"/>
                </a:lnTo>
                <a:lnTo>
                  <a:pt x="384742" y="560933"/>
                </a:lnTo>
                <a:lnTo>
                  <a:pt x="384742" y="540693"/>
                </a:lnTo>
                <a:lnTo>
                  <a:pt x="657225" y="540693"/>
                </a:lnTo>
                <a:cubicBezTo>
                  <a:pt x="710123" y="540693"/>
                  <a:pt x="729683" y="508397"/>
                  <a:pt x="748053" y="460028"/>
                </a:cubicBezTo>
                <a:cubicBezTo>
                  <a:pt x="767103" y="410170"/>
                  <a:pt x="766252" y="362248"/>
                  <a:pt x="748053" y="298400"/>
                </a:cubicBezTo>
                <a:close/>
                <a:moveTo>
                  <a:pt x="486796" y="661839"/>
                </a:moveTo>
                <a:cubicBezTo>
                  <a:pt x="473850" y="662633"/>
                  <a:pt x="461480" y="657041"/>
                  <a:pt x="454731" y="647342"/>
                </a:cubicBezTo>
                <a:cubicBezTo>
                  <a:pt x="447982" y="637644"/>
                  <a:pt x="447982" y="625461"/>
                  <a:pt x="454731" y="615762"/>
                </a:cubicBezTo>
                <a:cubicBezTo>
                  <a:pt x="461480" y="606064"/>
                  <a:pt x="473850" y="600471"/>
                  <a:pt x="486796" y="601266"/>
                </a:cubicBezTo>
                <a:cubicBezTo>
                  <a:pt x="499741" y="600471"/>
                  <a:pt x="512111" y="606064"/>
                  <a:pt x="518860" y="615762"/>
                </a:cubicBezTo>
                <a:cubicBezTo>
                  <a:pt x="525609" y="625461"/>
                  <a:pt x="525609" y="637644"/>
                  <a:pt x="518860" y="647342"/>
                </a:cubicBezTo>
                <a:cubicBezTo>
                  <a:pt x="512111" y="657041"/>
                  <a:pt x="499741" y="662633"/>
                  <a:pt x="486796" y="661839"/>
                </a:cubicBezTo>
                <a:close/>
                <a:moveTo>
                  <a:pt x="285410" y="369243"/>
                </a:moveTo>
                <a:lnTo>
                  <a:pt x="467065" y="369243"/>
                </a:lnTo>
                <a:cubicBezTo>
                  <a:pt x="517582" y="369243"/>
                  <a:pt x="557893" y="332780"/>
                  <a:pt x="557893" y="288429"/>
                </a:cubicBezTo>
                <a:lnTo>
                  <a:pt x="557893" y="136773"/>
                </a:lnTo>
                <a:cubicBezTo>
                  <a:pt x="557893" y="93613"/>
                  <a:pt x="516391" y="61317"/>
                  <a:pt x="467065" y="54025"/>
                </a:cubicBezTo>
                <a:cubicBezTo>
                  <a:pt x="406173" y="45244"/>
                  <a:pt x="340008" y="45690"/>
                  <a:pt x="285410" y="54173"/>
                </a:cubicBezTo>
                <a:cubicBezTo>
                  <a:pt x="208529" y="66080"/>
                  <a:pt x="194582" y="90934"/>
                  <a:pt x="194582" y="136922"/>
                </a:cubicBezTo>
                <a:lnTo>
                  <a:pt x="194582" y="197495"/>
                </a:lnTo>
                <a:lnTo>
                  <a:pt x="376408" y="197495"/>
                </a:lnTo>
                <a:lnTo>
                  <a:pt x="376408" y="217736"/>
                </a:lnTo>
                <a:lnTo>
                  <a:pt x="126376" y="217736"/>
                </a:lnTo>
                <a:cubicBezTo>
                  <a:pt x="73479" y="217736"/>
                  <a:pt x="27214" y="245566"/>
                  <a:pt x="12757" y="298400"/>
                </a:cubicBezTo>
                <a:cubicBezTo>
                  <a:pt x="-3912" y="358973"/>
                  <a:pt x="-4592" y="396776"/>
                  <a:pt x="12757" y="460028"/>
                </a:cubicBezTo>
                <a:cubicBezTo>
                  <a:pt x="25683" y="507057"/>
                  <a:pt x="56470" y="540693"/>
                  <a:pt x="109367" y="540693"/>
                </a:cubicBezTo>
                <a:lnTo>
                  <a:pt x="171790" y="540693"/>
                </a:lnTo>
                <a:lnTo>
                  <a:pt x="171790" y="468064"/>
                </a:lnTo>
                <a:cubicBezTo>
                  <a:pt x="171790" y="415528"/>
                  <a:pt x="223667" y="369243"/>
                  <a:pt x="285410" y="369243"/>
                </a:cubicBezTo>
                <a:close/>
                <a:moveTo>
                  <a:pt x="274184" y="96292"/>
                </a:moveTo>
                <a:cubicBezTo>
                  <a:pt x="293334" y="96292"/>
                  <a:pt x="308882" y="109896"/>
                  <a:pt x="308882" y="126653"/>
                </a:cubicBezTo>
                <a:cubicBezTo>
                  <a:pt x="308882" y="143409"/>
                  <a:pt x="293334" y="157014"/>
                  <a:pt x="274184" y="157014"/>
                </a:cubicBezTo>
                <a:cubicBezTo>
                  <a:pt x="255033" y="157014"/>
                  <a:pt x="239486" y="143409"/>
                  <a:pt x="239486" y="126653"/>
                </a:cubicBezTo>
                <a:cubicBezTo>
                  <a:pt x="239486" y="109896"/>
                  <a:pt x="255033" y="96292"/>
                  <a:pt x="274184" y="96292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9" name="Text 7"/>
          <p:cNvSpPr/>
          <p:nvPr/>
        </p:nvSpPr>
        <p:spPr>
          <a:xfrm>
            <a:off x="18796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79600" y="7112000"/>
            <a:ext cx="5715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编程语言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altLang="zh-CN" sz="3600" dirty="0"/>
              <a:t>3. 12. 4 (tags/v3. 12. 4:8e8a4ba, Jun 6 2024, 19:30:16) [MSC v. 1940 64 bit (AMD64) ]</a:t>
            </a:r>
          </a:p>
        </p:txBody>
      </p:sp>
      <p:sp>
        <p:nvSpPr>
          <p:cNvPr id="11" name="Shape 9"/>
          <p:cNvSpPr/>
          <p:nvPr/>
        </p:nvSpPr>
        <p:spPr>
          <a:xfrm>
            <a:off x="88265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5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72993" y="-39291"/>
                </a:moveTo>
                <a:cubicBezTo>
                  <a:pt x="288812" y="-50899"/>
                  <a:pt x="312114" y="-50453"/>
                  <a:pt x="327252" y="-37951"/>
                </a:cubicBezTo>
                <a:cubicBezTo>
                  <a:pt x="348173" y="-20687"/>
                  <a:pt x="366883" y="-1637"/>
                  <a:pt x="384912" y="17711"/>
                </a:cubicBezTo>
                <a:cubicBezTo>
                  <a:pt x="407874" y="42267"/>
                  <a:pt x="435429" y="74712"/>
                  <a:pt x="461963" y="113258"/>
                </a:cubicBezTo>
                <a:cubicBezTo>
                  <a:pt x="470807" y="103138"/>
                  <a:pt x="478971" y="94208"/>
                  <a:pt x="486115" y="86618"/>
                </a:cubicBezTo>
                <a:cubicBezTo>
                  <a:pt x="487986" y="84683"/>
                  <a:pt x="489857" y="82600"/>
                  <a:pt x="491728" y="80516"/>
                </a:cubicBezTo>
                <a:cubicBezTo>
                  <a:pt x="505165" y="65931"/>
                  <a:pt x="521834" y="47625"/>
                  <a:pt x="544116" y="47625"/>
                </a:cubicBezTo>
                <a:cubicBezTo>
                  <a:pt x="566908" y="47625"/>
                  <a:pt x="582896" y="65336"/>
                  <a:pt x="596503" y="80516"/>
                </a:cubicBezTo>
                <a:cubicBezTo>
                  <a:pt x="598714" y="83046"/>
                  <a:pt x="600925" y="85427"/>
                  <a:pt x="603137" y="87660"/>
                </a:cubicBezTo>
                <a:cubicBezTo>
                  <a:pt x="620656" y="106114"/>
                  <a:pt x="643958" y="132755"/>
                  <a:pt x="667260" y="165646"/>
                </a:cubicBezTo>
                <a:cubicBezTo>
                  <a:pt x="713525" y="230981"/>
                  <a:pt x="761830" y="323999"/>
                  <a:pt x="761830" y="428476"/>
                </a:cubicBezTo>
                <a:cubicBezTo>
                  <a:pt x="761830" y="612577"/>
                  <a:pt x="591230" y="761851"/>
                  <a:pt x="380830" y="761851"/>
                </a:cubicBezTo>
                <a:cubicBezTo>
                  <a:pt x="170429" y="761851"/>
                  <a:pt x="0" y="612725"/>
                  <a:pt x="0" y="428625"/>
                </a:cubicBezTo>
                <a:cubicBezTo>
                  <a:pt x="0" y="293043"/>
                  <a:pt x="69907" y="175617"/>
                  <a:pt x="136922" y="93762"/>
                </a:cubicBezTo>
                <a:cubicBezTo>
                  <a:pt x="170770" y="52536"/>
                  <a:pt x="204447" y="19496"/>
                  <a:pt x="229791" y="-3125"/>
                </a:cubicBezTo>
                <a:cubicBezTo>
                  <a:pt x="243738" y="-15627"/>
                  <a:pt x="257855" y="-27980"/>
                  <a:pt x="273163" y="-39142"/>
                </a:cubicBezTo>
                <a:close/>
                <a:moveTo>
                  <a:pt x="383892" y="619125"/>
                </a:moveTo>
                <a:cubicBezTo>
                  <a:pt x="426924" y="619125"/>
                  <a:pt x="465024" y="608707"/>
                  <a:pt x="500913" y="587871"/>
                </a:cubicBezTo>
                <a:cubicBezTo>
                  <a:pt x="572521" y="544116"/>
                  <a:pt x="591741" y="456605"/>
                  <a:pt x="548708" y="387846"/>
                </a:cubicBezTo>
                <a:cubicBezTo>
                  <a:pt x="541054" y="374452"/>
                  <a:pt x="521494" y="373559"/>
                  <a:pt x="510438" y="384870"/>
                </a:cubicBezTo>
                <a:lnTo>
                  <a:pt x="467575" y="428476"/>
                </a:lnTo>
                <a:cubicBezTo>
                  <a:pt x="456350" y="439787"/>
                  <a:pt x="436109" y="439489"/>
                  <a:pt x="425563" y="427732"/>
                </a:cubicBezTo>
                <a:cubicBezTo>
                  <a:pt x="396138" y="394841"/>
                  <a:pt x="342050" y="334863"/>
                  <a:pt x="314495" y="304205"/>
                </a:cubicBezTo>
                <a:cubicBezTo>
                  <a:pt x="305310" y="293936"/>
                  <a:pt x="288642" y="292298"/>
                  <a:pt x="277926" y="301377"/>
                </a:cubicBezTo>
                <a:cubicBezTo>
                  <a:pt x="246800" y="327868"/>
                  <a:pt x="190330" y="385911"/>
                  <a:pt x="190330" y="456605"/>
                </a:cubicBezTo>
                <a:cubicBezTo>
                  <a:pt x="190330" y="558701"/>
                  <a:pt x="276395" y="619125"/>
                  <a:pt x="383721" y="619125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3" name="Text 11"/>
          <p:cNvSpPr/>
          <p:nvPr/>
        </p:nvSpPr>
        <p:spPr>
          <a:xfrm>
            <a:off x="93345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334500" y="7112000"/>
            <a:ext cx="5715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深度学习框架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altLang="zh-CN" sz="3600" dirty="0"/>
              <a:t>2. 12. 0+cpu</a:t>
            </a:r>
          </a:p>
        </p:txBody>
      </p:sp>
      <p:sp>
        <p:nvSpPr>
          <p:cNvPr id="15" name="Shape 13"/>
          <p:cNvSpPr/>
          <p:nvPr/>
        </p:nvSpPr>
        <p:spPr>
          <a:xfrm>
            <a:off x="162814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7894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08857" y="47625"/>
                </a:moveTo>
                <a:cubicBezTo>
                  <a:pt x="48816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8816" y="714375"/>
                  <a:pt x="108857" y="714375"/>
                </a:cubicBezTo>
                <a:lnTo>
                  <a:pt x="653143" y="714375"/>
                </a:lnTo>
                <a:cubicBezTo>
                  <a:pt x="713184" y="714375"/>
                  <a:pt x="762000" y="671661"/>
                  <a:pt x="762000" y="619125"/>
                </a:cubicBezTo>
                <a:lnTo>
                  <a:pt x="762000" y="142875"/>
                </a:lnTo>
                <a:cubicBezTo>
                  <a:pt x="762000" y="90339"/>
                  <a:pt x="713184" y="47625"/>
                  <a:pt x="653143" y="47625"/>
                </a:cubicBezTo>
                <a:lnTo>
                  <a:pt x="108857" y="47625"/>
                </a:lnTo>
                <a:close/>
                <a:moveTo>
                  <a:pt x="217714" y="166688"/>
                </a:moveTo>
                <a:cubicBezTo>
                  <a:pt x="262774" y="166688"/>
                  <a:pt x="299357" y="198698"/>
                  <a:pt x="299357" y="238125"/>
                </a:cubicBezTo>
                <a:cubicBezTo>
                  <a:pt x="299357" y="277552"/>
                  <a:pt x="262774" y="309563"/>
                  <a:pt x="217714" y="309563"/>
                </a:cubicBezTo>
                <a:cubicBezTo>
                  <a:pt x="172654" y="309563"/>
                  <a:pt x="136071" y="277552"/>
                  <a:pt x="136071" y="238125"/>
                </a:cubicBezTo>
                <a:cubicBezTo>
                  <a:pt x="136071" y="198698"/>
                  <a:pt x="172654" y="166688"/>
                  <a:pt x="217714" y="166688"/>
                </a:cubicBezTo>
                <a:close/>
                <a:moveTo>
                  <a:pt x="462643" y="333375"/>
                </a:moveTo>
                <a:cubicBezTo>
                  <a:pt x="476930" y="333375"/>
                  <a:pt x="490027" y="339923"/>
                  <a:pt x="497511" y="350490"/>
                </a:cubicBezTo>
                <a:lnTo>
                  <a:pt x="647190" y="564803"/>
                </a:lnTo>
                <a:cubicBezTo>
                  <a:pt x="654844" y="575816"/>
                  <a:pt x="655184" y="589657"/>
                  <a:pt x="648040" y="600968"/>
                </a:cubicBezTo>
                <a:cubicBezTo>
                  <a:pt x="640896" y="612279"/>
                  <a:pt x="627119" y="619125"/>
                  <a:pt x="612321" y="619125"/>
                </a:cubicBezTo>
                <a:lnTo>
                  <a:pt x="149679" y="619125"/>
                </a:lnTo>
                <a:cubicBezTo>
                  <a:pt x="134541" y="619125"/>
                  <a:pt x="120423" y="611684"/>
                  <a:pt x="113450" y="599926"/>
                </a:cubicBezTo>
                <a:cubicBezTo>
                  <a:pt x="106476" y="588169"/>
                  <a:pt x="107496" y="573881"/>
                  <a:pt x="116171" y="563017"/>
                </a:cubicBezTo>
                <a:lnTo>
                  <a:pt x="211421" y="443954"/>
                </a:lnTo>
                <a:cubicBezTo>
                  <a:pt x="219075" y="434429"/>
                  <a:pt x="231492" y="428774"/>
                  <a:pt x="244929" y="428774"/>
                </a:cubicBezTo>
                <a:cubicBezTo>
                  <a:pt x="258366" y="428774"/>
                  <a:pt x="270782" y="434429"/>
                  <a:pt x="278436" y="443954"/>
                </a:cubicBezTo>
                <a:lnTo>
                  <a:pt x="323340" y="500211"/>
                </a:lnTo>
                <a:lnTo>
                  <a:pt x="427775" y="350639"/>
                </a:lnTo>
                <a:cubicBezTo>
                  <a:pt x="435258" y="340072"/>
                  <a:pt x="448355" y="333524"/>
                  <a:pt x="462643" y="333524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7" name="Text 15"/>
          <p:cNvSpPr/>
          <p:nvPr/>
        </p:nvSpPr>
        <p:spPr>
          <a:xfrm>
            <a:off x="167894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Torchvision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789400" y="7112000"/>
            <a:ext cx="57150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视觉处理库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altLang="zh-CN" sz="3600" dirty="0"/>
              <a:t>0. 27. 0+cpu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2185" y="0"/>
            <a:ext cx="10986135" cy="9292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/>
              <a:t>import sys</a:t>
            </a:r>
          </a:p>
          <a:p>
            <a:r>
              <a:rPr lang="en-US" altLang="zh-CN" sz="3200" dirty="0"/>
              <a:t>import torch</a:t>
            </a:r>
          </a:p>
          <a:p>
            <a:r>
              <a:rPr lang="en-US" altLang="zh-CN" sz="3200" dirty="0"/>
              <a:t>import </a:t>
            </a:r>
            <a:r>
              <a:rPr lang="en-US" altLang="zh-CN" sz="3200" dirty="0" err="1"/>
              <a:t>torchvision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print("Python version:")</a:t>
            </a:r>
          </a:p>
          <a:p>
            <a:r>
              <a:rPr lang="en-US" altLang="zh-CN" sz="3200" dirty="0"/>
              <a:t>print(</a:t>
            </a:r>
            <a:r>
              <a:rPr lang="en-US" altLang="zh-CN" sz="3200" dirty="0" err="1"/>
              <a:t>sys.version</a:t>
            </a:r>
            <a:r>
              <a:rPr lang="en-US" altLang="zh-CN" sz="3200" dirty="0"/>
              <a:t>)</a:t>
            </a:r>
          </a:p>
          <a:p>
            <a:endParaRPr lang="en-US" altLang="zh-CN" sz="3200" dirty="0"/>
          </a:p>
          <a:p>
            <a:r>
              <a:rPr lang="en-US" altLang="zh-CN" sz="3200" dirty="0"/>
              <a:t>print("\</a:t>
            </a:r>
            <a:r>
              <a:rPr lang="en-US" altLang="zh-CN" sz="3200" dirty="0" err="1"/>
              <a:t>nPyTorch</a:t>
            </a:r>
            <a:r>
              <a:rPr lang="en-US" altLang="zh-CN" sz="3200" dirty="0"/>
              <a:t> version:")</a:t>
            </a:r>
          </a:p>
          <a:p>
            <a:r>
              <a:rPr lang="en-US" altLang="zh-CN" sz="3200" dirty="0"/>
              <a:t>print(</a:t>
            </a:r>
            <a:r>
              <a:rPr lang="en-US" altLang="zh-CN" sz="3200" dirty="0" err="1"/>
              <a:t>torch.__version</a:t>
            </a:r>
            <a:r>
              <a:rPr lang="en-US" altLang="zh-CN" sz="3200" dirty="0"/>
              <a:t>__)</a:t>
            </a:r>
          </a:p>
          <a:p>
            <a:endParaRPr lang="en-US" altLang="zh-CN" sz="3200" dirty="0"/>
          </a:p>
          <a:p>
            <a:r>
              <a:rPr lang="en-US" altLang="zh-CN" sz="3200" dirty="0"/>
              <a:t>print("\</a:t>
            </a:r>
            <a:r>
              <a:rPr lang="en-US" altLang="zh-CN" sz="3200" dirty="0" err="1"/>
              <a:t>nTorchvision</a:t>
            </a:r>
            <a:r>
              <a:rPr lang="en-US" altLang="zh-CN" sz="3200" dirty="0"/>
              <a:t> version:")</a:t>
            </a:r>
          </a:p>
          <a:p>
            <a:r>
              <a:rPr lang="en-US" altLang="zh-CN" sz="3200" dirty="0"/>
              <a:t>print(</a:t>
            </a:r>
            <a:r>
              <a:rPr lang="en-US" altLang="zh-CN" sz="3200" dirty="0" err="1"/>
              <a:t>torchvision</a:t>
            </a:r>
            <a:r>
              <a:rPr lang="en-US" altLang="zh-CN" sz="3200" dirty="0"/>
              <a:t>.__version__)</a:t>
            </a:r>
          </a:p>
          <a:p>
            <a:endParaRPr lang="en-US" altLang="zh-CN" sz="3200" dirty="0"/>
          </a:p>
          <a:p>
            <a:r>
              <a:rPr lang="en-US" altLang="zh-CN" sz="3200" dirty="0"/>
              <a:t>print("\</a:t>
            </a:r>
            <a:r>
              <a:rPr lang="en-US" altLang="zh-CN" sz="3200" dirty="0" err="1"/>
              <a:t>nCUDA</a:t>
            </a:r>
            <a:r>
              <a:rPr lang="en-US" altLang="zh-CN" sz="3200" dirty="0"/>
              <a:t> available:")</a:t>
            </a:r>
          </a:p>
          <a:p>
            <a:r>
              <a:rPr lang="en-US" altLang="zh-CN" sz="3200" dirty="0"/>
              <a:t>print(</a:t>
            </a:r>
            <a:r>
              <a:rPr lang="en-US" altLang="zh-CN" sz="3200" dirty="0" err="1"/>
              <a:t>torch.cuda.is_available</a:t>
            </a:r>
            <a:r>
              <a:rPr lang="en-US" altLang="zh-CN" sz="3200" dirty="0"/>
              <a:t>())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822430" y="3146425"/>
            <a:ext cx="90487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/>
              <a:t>用于检查实验环境是否配置成功。</a:t>
            </a:r>
          </a:p>
        </p:txBody>
      </p:sp>
      <p:pic>
        <p:nvPicPr>
          <p:cNvPr id="4" name="图片 3" descr="01_environment_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85" y="7498715"/>
            <a:ext cx="17358995" cy="5854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任务采样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TASK SAMPLING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826000"/>
            <a:ext cx="10160000" cy="355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879600" y="533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88354" y="6449"/>
                </a:moveTo>
                <a:cubicBezTo>
                  <a:pt x="306834" y="-2108"/>
                  <a:pt x="328166" y="-2108"/>
                  <a:pt x="346646" y="6449"/>
                </a:cubicBezTo>
                <a:lnTo>
                  <a:pt x="617761" y="131713"/>
                </a:lnTo>
                <a:cubicBezTo>
                  <a:pt x="628303" y="136550"/>
                  <a:pt x="635000" y="147092"/>
                  <a:pt x="635000" y="158750"/>
                </a:cubicBezTo>
                <a:cubicBezTo>
                  <a:pt x="635000" y="170408"/>
                  <a:pt x="628303" y="180950"/>
                  <a:pt x="617761" y="185787"/>
                </a:cubicBezTo>
                <a:lnTo>
                  <a:pt x="346646" y="311051"/>
                </a:lnTo>
                <a:cubicBezTo>
                  <a:pt x="328166" y="319608"/>
                  <a:pt x="306834" y="319608"/>
                  <a:pt x="288354" y="311051"/>
                </a:cubicBezTo>
                <a:lnTo>
                  <a:pt x="17239" y="185787"/>
                </a:lnTo>
                <a:cubicBezTo>
                  <a:pt x="6697" y="180826"/>
                  <a:pt x="0" y="170284"/>
                  <a:pt x="0" y="158750"/>
                </a:cubicBezTo>
                <a:cubicBezTo>
                  <a:pt x="0" y="147216"/>
                  <a:pt x="6697" y="136550"/>
                  <a:pt x="17239" y="131713"/>
                </a:cubicBezTo>
                <a:lnTo>
                  <a:pt x="288354" y="6449"/>
                </a:lnTo>
                <a:close/>
                <a:moveTo>
                  <a:pt x="59655" y="270867"/>
                </a:moveTo>
                <a:lnTo>
                  <a:pt x="263426" y="365001"/>
                </a:lnTo>
                <a:cubicBezTo>
                  <a:pt x="297780" y="380876"/>
                  <a:pt x="337344" y="380876"/>
                  <a:pt x="371698" y="365001"/>
                </a:cubicBezTo>
                <a:lnTo>
                  <a:pt x="575469" y="270867"/>
                </a:lnTo>
                <a:lnTo>
                  <a:pt x="617761" y="290463"/>
                </a:lnTo>
                <a:cubicBezTo>
                  <a:pt x="628303" y="295300"/>
                  <a:pt x="635000" y="305842"/>
                  <a:pt x="635000" y="317500"/>
                </a:cubicBezTo>
                <a:cubicBezTo>
                  <a:pt x="635000" y="329158"/>
                  <a:pt x="628303" y="339700"/>
                  <a:pt x="617761" y="344537"/>
                </a:cubicBezTo>
                <a:lnTo>
                  <a:pt x="346646" y="469801"/>
                </a:lnTo>
                <a:cubicBezTo>
                  <a:pt x="328166" y="478358"/>
                  <a:pt x="306834" y="478358"/>
                  <a:pt x="288354" y="469801"/>
                </a:cubicBezTo>
                <a:lnTo>
                  <a:pt x="17239" y="344537"/>
                </a:lnTo>
                <a:cubicBezTo>
                  <a:pt x="6697" y="339576"/>
                  <a:pt x="0" y="329034"/>
                  <a:pt x="0" y="317500"/>
                </a:cubicBezTo>
                <a:cubicBezTo>
                  <a:pt x="0" y="305966"/>
                  <a:pt x="6697" y="295300"/>
                  <a:pt x="17239" y="290463"/>
                </a:cubicBezTo>
                <a:lnTo>
                  <a:pt x="59531" y="270867"/>
                </a:lnTo>
                <a:close/>
                <a:moveTo>
                  <a:pt x="17239" y="449213"/>
                </a:moveTo>
                <a:lnTo>
                  <a:pt x="59531" y="429617"/>
                </a:lnTo>
                <a:lnTo>
                  <a:pt x="263302" y="523751"/>
                </a:lnTo>
                <a:cubicBezTo>
                  <a:pt x="297656" y="539626"/>
                  <a:pt x="337220" y="539626"/>
                  <a:pt x="371574" y="523751"/>
                </a:cubicBezTo>
                <a:lnTo>
                  <a:pt x="575345" y="429617"/>
                </a:lnTo>
                <a:lnTo>
                  <a:pt x="617637" y="449213"/>
                </a:lnTo>
                <a:cubicBezTo>
                  <a:pt x="628179" y="454050"/>
                  <a:pt x="634876" y="464592"/>
                  <a:pt x="634876" y="476250"/>
                </a:cubicBezTo>
                <a:cubicBezTo>
                  <a:pt x="634876" y="487908"/>
                  <a:pt x="628179" y="498450"/>
                  <a:pt x="617637" y="503287"/>
                </a:cubicBezTo>
                <a:lnTo>
                  <a:pt x="346521" y="628551"/>
                </a:lnTo>
                <a:cubicBezTo>
                  <a:pt x="328042" y="637108"/>
                  <a:pt x="306710" y="637108"/>
                  <a:pt x="288230" y="628551"/>
                </a:cubicBezTo>
                <a:lnTo>
                  <a:pt x="17239" y="503287"/>
                </a:lnTo>
                <a:cubicBezTo>
                  <a:pt x="6697" y="498326"/>
                  <a:pt x="0" y="487784"/>
                  <a:pt x="0" y="476250"/>
                </a:cubicBezTo>
                <a:cubicBezTo>
                  <a:pt x="0" y="464716"/>
                  <a:pt x="6697" y="454050"/>
                  <a:pt x="17239" y="449213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2768600" y="5334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Set</a:t>
            </a:r>
            <a:endParaRPr lang="en-US" sz="32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879600" y="6032500"/>
            <a:ext cx="9369425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2200" dirty="0"/>
              <a:t>小样本任务中给模型的 “参考例题”，由少量带标注的新类别样本组成。</a:t>
            </a:r>
          </a:p>
          <a:p>
            <a:pPr algn="l">
              <a:lnSpc>
                <a:spcPct val="160000"/>
              </a:lnSpc>
            </a:pPr>
            <a:r>
              <a:rPr lang="zh-CN" altLang="en-US" sz="2200" dirty="0"/>
              <a:t>模型依靠支撑集快速认知新类别（比如原型网络会用支撑集计算每个类的特征原型），它对应小样本设定里的 “</a:t>
            </a:r>
            <a:r>
              <a:rPr lang="en-US" altLang="zh-CN" sz="2200" dirty="0"/>
              <a:t>K-shot”——K </a:t>
            </a:r>
            <a:r>
              <a:rPr lang="zh-CN" altLang="en-US" sz="2200" dirty="0"/>
              <a:t>就是每个类的支撑样本数量。</a:t>
            </a:r>
          </a:p>
        </p:txBody>
      </p:sp>
      <p:sp>
        <p:nvSpPr>
          <p:cNvPr id="11" name="Shape 9"/>
          <p:cNvSpPr/>
          <p:nvPr/>
        </p:nvSpPr>
        <p:spPr>
          <a:xfrm>
            <a:off x="12852400" y="4826000"/>
            <a:ext cx="10160000" cy="355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3360400" y="533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15937" y="257969"/>
                </a:moveTo>
                <a:cubicBezTo>
                  <a:pt x="515937" y="314896"/>
                  <a:pt x="497458" y="367481"/>
                  <a:pt x="466328" y="410146"/>
                </a:cubicBezTo>
                <a:lnTo>
                  <a:pt x="623342" y="567283"/>
                </a:lnTo>
                <a:cubicBezTo>
                  <a:pt x="638845" y="582786"/>
                  <a:pt x="638845" y="607963"/>
                  <a:pt x="623342" y="623466"/>
                </a:cubicBezTo>
                <a:cubicBezTo>
                  <a:pt x="607839" y="638969"/>
                  <a:pt x="582662" y="638969"/>
                  <a:pt x="567159" y="623466"/>
                </a:cubicBezTo>
                <a:lnTo>
                  <a:pt x="410146" y="466328"/>
                </a:lnTo>
                <a:cubicBezTo>
                  <a:pt x="367481" y="497458"/>
                  <a:pt x="314896" y="515937"/>
                  <a:pt x="257969" y="515937"/>
                </a:cubicBezTo>
                <a:cubicBezTo>
                  <a:pt x="115466" y="515937"/>
                  <a:pt x="0" y="400472"/>
                  <a:pt x="0" y="257969"/>
                </a:cubicBezTo>
                <a:cubicBezTo>
                  <a:pt x="0" y="115466"/>
                  <a:pt x="115466" y="0"/>
                  <a:pt x="257969" y="0"/>
                </a:cubicBezTo>
                <a:cubicBezTo>
                  <a:pt x="400472" y="0"/>
                  <a:pt x="515937" y="115466"/>
                  <a:pt x="515937" y="257969"/>
                </a:cubicBezTo>
                <a:close/>
                <a:moveTo>
                  <a:pt x="257969" y="436563"/>
                </a:moveTo>
                <a:cubicBezTo>
                  <a:pt x="356537" y="436563"/>
                  <a:pt x="436563" y="356537"/>
                  <a:pt x="436563" y="257969"/>
                </a:cubicBezTo>
                <a:cubicBezTo>
                  <a:pt x="436563" y="159400"/>
                  <a:pt x="356537" y="79375"/>
                  <a:pt x="257969" y="79375"/>
                </a:cubicBezTo>
                <a:cubicBezTo>
                  <a:pt x="159400" y="79375"/>
                  <a:pt x="79375" y="159400"/>
                  <a:pt x="79375" y="257969"/>
                </a:cubicBezTo>
                <a:cubicBezTo>
                  <a:pt x="79375" y="356537"/>
                  <a:pt x="159400" y="436563"/>
                  <a:pt x="257969" y="436563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4249400" y="5334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Set</a:t>
            </a:r>
            <a:endParaRPr lang="en-US" sz="32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3360400" y="6032500"/>
            <a:ext cx="9144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2200" dirty="0"/>
              <a:t>小样本任务中用来 “测试打分” 的考题集 ，和支撑集属于完全相同的类别，但样本和支撑集无重叠。</a:t>
            </a:r>
          </a:p>
          <a:p>
            <a:pPr algn="l">
              <a:lnSpc>
                <a:spcPct val="160000"/>
              </a:lnSpc>
            </a:pPr>
            <a:r>
              <a:rPr lang="zh-CN" altLang="en-US" sz="2200" dirty="0"/>
              <a:t>模型基于从支撑集学到的类别信息，对查询集样本做分类预测，最终的准确率、损失都基于查询集计算，用来衡量模型的小样本泛化能力。</a:t>
            </a:r>
          </a:p>
        </p:txBody>
      </p:sp>
      <p:sp>
        <p:nvSpPr>
          <p:cNvPr id="15" name="Shape 13"/>
          <p:cNvSpPr/>
          <p:nvPr/>
        </p:nvSpPr>
        <p:spPr>
          <a:xfrm>
            <a:off x="1371600" y="8890000"/>
            <a:ext cx="21640800" cy="3556000"/>
          </a:xfrm>
          <a:prstGeom prst="roundRect">
            <a:avLst>
              <a:gd name="adj" fmla="val 5000"/>
            </a:avLst>
          </a:prstGeom>
          <a:solidFill>
            <a:srgbClr val="0F1B3D"/>
          </a:solidFill>
        </p:spPr>
      </p:sp>
      <p:sp>
        <p:nvSpPr>
          <p:cNvPr id="16" name="Text 14"/>
          <p:cNvSpPr/>
          <p:nvPr/>
        </p:nvSpPr>
        <p:spPr>
          <a:xfrm>
            <a:off x="1879600" y="9271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N-way K-shot 采样策略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79600" y="10033000"/>
            <a:ext cx="206248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从数据集的类别池中随机抽取 </a:t>
            </a:r>
            <a:r>
              <a:rPr lang="en-US" altLang="zh-CN" sz="2400" dirty="0">
                <a:solidFill>
                  <a:schemeClr val="bg1"/>
                </a:solidFill>
              </a:rPr>
              <a:t>N </a:t>
            </a:r>
            <a:r>
              <a:rPr lang="zh-CN" altLang="en-US" sz="2400" dirty="0">
                <a:solidFill>
                  <a:schemeClr val="bg1"/>
                </a:solidFill>
              </a:rPr>
              <a:t>个类别；</a:t>
            </a:r>
          </a:p>
          <a:p>
            <a:pPr algn="l">
              <a:lnSpc>
                <a:spcPct val="16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每个类别里随机选 </a:t>
            </a:r>
            <a:r>
              <a:rPr lang="en-US" altLang="zh-CN" sz="2400" dirty="0">
                <a:solidFill>
                  <a:schemeClr val="bg1"/>
                </a:solidFill>
              </a:rPr>
              <a:t>K </a:t>
            </a:r>
            <a:r>
              <a:rPr lang="zh-CN" altLang="en-US" sz="2400" dirty="0">
                <a:solidFill>
                  <a:schemeClr val="bg1"/>
                </a:solidFill>
              </a:rPr>
              <a:t>个样本组成支撑集，再额外选 </a:t>
            </a:r>
            <a:r>
              <a:rPr lang="en-US" altLang="zh-CN" sz="2400" dirty="0">
                <a:solidFill>
                  <a:schemeClr val="bg1"/>
                </a:solidFill>
              </a:rPr>
              <a:t>Q </a:t>
            </a:r>
            <a:r>
              <a:rPr lang="zh-CN" altLang="en-US" sz="2400" dirty="0">
                <a:solidFill>
                  <a:schemeClr val="bg1"/>
                </a:solidFill>
              </a:rPr>
              <a:t>个样本组成查询集（</a:t>
            </a:r>
            <a:r>
              <a:rPr lang="en-US" altLang="zh-CN" sz="2400" dirty="0">
                <a:solidFill>
                  <a:schemeClr val="bg1"/>
                </a:solidFill>
              </a:rPr>
              <a:t>Query Set，</a:t>
            </a:r>
            <a:r>
              <a:rPr lang="zh-CN" altLang="en-US" sz="2400" dirty="0">
                <a:solidFill>
                  <a:schemeClr val="bg1"/>
                </a:solidFill>
              </a:rPr>
              <a:t>用于测试预测效果），两者无重叠；</a:t>
            </a:r>
          </a:p>
          <a:p>
            <a:pPr algn="l">
              <a:lnSpc>
                <a:spcPct val="16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类别标签重新映射为 0~</a:t>
            </a:r>
            <a:r>
              <a:rPr lang="en-US" altLang="zh-CN" sz="2400" dirty="0">
                <a:solidFill>
                  <a:schemeClr val="bg1"/>
                </a:solidFill>
              </a:rPr>
              <a:t>N-1，</a:t>
            </a:r>
            <a:r>
              <a:rPr lang="zh-CN" altLang="en-US" sz="2400" dirty="0">
                <a:solidFill>
                  <a:schemeClr val="bg1"/>
                </a:solidFill>
              </a:rPr>
              <a:t>和原始类别脱钩，模拟「全新任务」。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93800" y="2130425"/>
            <a:ext cx="20320000" cy="730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构造并展示一次 5-</a:t>
            </a:r>
            <a:r>
              <a:rPr lang="en-US" altLang="zh-CN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way 5-shot </a:t>
            </a:r>
            <a:r>
              <a:rPr lang="zh-CN" alt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小样本分类任务 </a:t>
            </a:r>
            <a:r>
              <a:rPr lang="en-US" altLang="zh-CN" sz="44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</a:t>
            </a:r>
            <a:r>
              <a:rPr lang="en-US" altLang="zh-CN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CODE</a:t>
            </a: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2971800"/>
            <a:ext cx="2540000" cy="76200"/>
          </a:xfrm>
          <a:prstGeom prst="rect">
            <a:avLst/>
          </a:prstGeom>
          <a:solidFill>
            <a:srgbClr val="4361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41375" y="3270250"/>
            <a:ext cx="4143375" cy="10340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import random</a:t>
            </a:r>
          </a:p>
          <a:p>
            <a:r>
              <a:rPr lang="en-US" altLang="zh-CN"/>
              <a:t>import torch</a:t>
            </a:r>
          </a:p>
          <a:p>
            <a:r>
              <a:rPr lang="en-US" altLang="zh-CN"/>
              <a:t>from torchvision.datasets import Omniglot</a:t>
            </a:r>
          </a:p>
          <a:p>
            <a:r>
              <a:rPr lang="en-US" altLang="zh-CN"/>
              <a:t>from torchvision import transforms</a:t>
            </a:r>
          </a:p>
          <a:p>
            <a:r>
              <a:rPr lang="en-US" altLang="zh-CN"/>
              <a:t>import matplotlib.pyplot as plt</a:t>
            </a:r>
          </a:p>
          <a:p>
            <a:r>
              <a:rPr lang="en-US" altLang="zh-CN"/>
              <a:t>from collections import defaultdict</a:t>
            </a:r>
          </a:p>
          <a:p>
            <a:r>
              <a:rPr lang="en-US" altLang="zh-CN"/>
              <a:t>import os</a:t>
            </a:r>
          </a:p>
          <a:p>
            <a:endParaRPr lang="en-US" altLang="zh-CN"/>
          </a:p>
          <a:p>
            <a:r>
              <a:rPr lang="en-US" altLang="zh-CN"/>
              <a:t>N_WAY = 5</a:t>
            </a:r>
          </a:p>
          <a:p>
            <a:r>
              <a:rPr lang="en-US" altLang="zh-CN"/>
              <a:t>N_SHOT = 5</a:t>
            </a:r>
          </a:p>
          <a:p>
            <a:r>
              <a:rPr lang="en-US" altLang="zh-CN"/>
              <a:t>N_QUERY = 15</a:t>
            </a:r>
          </a:p>
          <a:p>
            <a:endParaRPr lang="en-US" altLang="zh-CN"/>
          </a:p>
          <a:p>
            <a:r>
              <a:rPr lang="en-US" altLang="zh-CN"/>
              <a:t>os.makedirs("outputs", exist_ok=True)</a:t>
            </a:r>
          </a:p>
          <a:p>
            <a:endParaRPr lang="en-US" altLang="zh-CN"/>
          </a:p>
          <a:p>
            <a:r>
              <a:rPr lang="en-US" altLang="zh-CN"/>
              <a:t>transform = transforms.Compose([</a:t>
            </a:r>
          </a:p>
          <a:p>
            <a:r>
              <a:rPr lang="en-US" altLang="zh-CN"/>
              <a:t>    transforms.Resize((28, 28)),</a:t>
            </a:r>
          </a:p>
          <a:p>
            <a:r>
              <a:rPr lang="en-US" altLang="zh-CN"/>
              <a:t>    transforms.ToTensor()</a:t>
            </a:r>
          </a:p>
          <a:p>
            <a:r>
              <a:rPr lang="en-US" altLang="zh-CN"/>
              <a:t>])</a:t>
            </a:r>
          </a:p>
          <a:p>
            <a:endParaRPr lang="en-US" altLang="zh-CN"/>
          </a:p>
          <a:p>
            <a:r>
              <a:rPr lang="en-US" altLang="zh-CN"/>
              <a:t>dataset = Omniglot(</a:t>
            </a:r>
          </a:p>
          <a:p>
            <a:r>
              <a:rPr lang="en-US" altLang="zh-CN"/>
              <a:t>    root="./data",</a:t>
            </a:r>
          </a:p>
          <a:p>
            <a:r>
              <a:rPr lang="en-US" altLang="zh-CN"/>
              <a:t>    background=True,</a:t>
            </a:r>
          </a:p>
          <a:p>
            <a:r>
              <a:rPr lang="en-US" altLang="zh-CN"/>
              <a:t>    transform=transform,</a:t>
            </a:r>
          </a:p>
          <a:p>
            <a:r>
              <a:rPr lang="en-US" altLang="zh-CN"/>
              <a:t>    download=True</a:t>
            </a:r>
          </a:p>
          <a:p>
            <a:r>
              <a:rPr lang="en-US" altLang="zh-CN"/>
              <a:t>)</a:t>
            </a:r>
          </a:p>
          <a:p>
            <a:endParaRPr lang="en-US" altLang="zh-CN"/>
          </a:p>
          <a:p>
            <a:r>
              <a:rPr lang="en-US" altLang="zh-CN"/>
              <a:t>print("</a:t>
            </a:r>
            <a:r>
              <a:rPr lang="zh-CN" altLang="en-US"/>
              <a:t>数据集大小：", </a:t>
            </a:r>
            <a:r>
              <a:rPr lang="en-US" altLang="zh-CN"/>
              <a:t>len(dataset))</a:t>
            </a:r>
          </a:p>
          <a:p>
            <a:endParaRPr lang="en-US" altLang="zh-CN"/>
          </a:p>
          <a:p>
            <a:r>
              <a:rPr lang="en-US" altLang="zh-CN"/>
              <a:t>class_to_indices = defaultdict(list)</a:t>
            </a:r>
          </a:p>
          <a:p>
            <a:r>
              <a:rPr lang="en-US" altLang="zh-CN">
                <a:sym typeface="+mn-ea"/>
              </a:rPr>
              <a:t>for index, item in enumerate(dataset._flat_character_images):</a:t>
            </a:r>
            <a:endParaRPr lang="en-US" altLang="zh-CN"/>
          </a:p>
          <a:p>
            <a:r>
              <a:rPr lang="en-US" altLang="zh-CN">
                <a:sym typeface="+mn-ea"/>
              </a:rPr>
              <a:t>    image_path, label = item</a:t>
            </a:r>
            <a:endParaRPr lang="en-US" altLang="zh-CN"/>
          </a:p>
          <a:p>
            <a:r>
              <a:rPr lang="en-US" altLang="zh-CN">
                <a:sym typeface="+mn-ea"/>
              </a:rPr>
              <a:t>    class_to_indices[label].append(index)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print("</a:t>
            </a:r>
            <a:r>
              <a:rPr lang="zh-CN" altLang="en-US">
                <a:sym typeface="+mn-ea"/>
              </a:rPr>
              <a:t>类别数量：", </a:t>
            </a:r>
            <a:r>
              <a:rPr lang="en-US" altLang="zh-CN">
                <a:sym typeface="+mn-ea"/>
              </a:rPr>
              <a:t>len(class_to_indices))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6219825" y="3270250"/>
            <a:ext cx="8128000" cy="895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def sample_episode():</a:t>
            </a:r>
          </a:p>
          <a:p>
            <a:r>
              <a:rPr lang="en-US" altLang="zh-CN"/>
              <a:t>    selected_classes = random.sample(list(class_to_indices.keys()), N_WAY)</a:t>
            </a:r>
          </a:p>
          <a:p>
            <a:endParaRPr lang="en-US" altLang="zh-CN"/>
          </a:p>
          <a:p>
            <a:r>
              <a:rPr lang="en-US" altLang="zh-CN"/>
              <a:t>    support_images = []</a:t>
            </a:r>
          </a:p>
          <a:p>
            <a:r>
              <a:rPr lang="en-US" altLang="zh-CN"/>
              <a:t>    support_labels = []</a:t>
            </a:r>
          </a:p>
          <a:p>
            <a:r>
              <a:rPr lang="en-US" altLang="zh-CN"/>
              <a:t>    query_images = []</a:t>
            </a:r>
          </a:p>
          <a:p>
            <a:r>
              <a:rPr lang="en-US" altLang="zh-CN"/>
              <a:t>    query_labels = []</a:t>
            </a:r>
          </a:p>
          <a:p>
            <a:endParaRPr lang="en-US" altLang="zh-CN"/>
          </a:p>
          <a:p>
            <a:r>
              <a:rPr lang="en-US" altLang="zh-CN"/>
              <a:t>    for new_label, old_label in enumerate(selected_classes):</a:t>
            </a:r>
          </a:p>
          <a:p>
            <a:r>
              <a:rPr lang="en-US" altLang="zh-CN"/>
              <a:t>        indices = class_to_indices[old_label]</a:t>
            </a:r>
          </a:p>
          <a:p>
            <a:r>
              <a:rPr lang="en-US" altLang="zh-CN"/>
              <a:t>        selected_indices = random.sample(indices, N_SHOT + N_QUERY)</a:t>
            </a:r>
          </a:p>
          <a:p>
            <a:endParaRPr lang="en-US" altLang="zh-CN"/>
          </a:p>
          <a:p>
            <a:r>
              <a:rPr lang="en-US" altLang="zh-CN"/>
              <a:t>        support_indices = selected_indices[:N_SHOT]</a:t>
            </a:r>
          </a:p>
          <a:p>
            <a:r>
              <a:rPr lang="en-US" altLang="zh-CN"/>
              <a:t>        query_indices = selected_indices[N_SHOT:]</a:t>
            </a:r>
          </a:p>
          <a:p>
            <a:endParaRPr lang="en-US" altLang="zh-CN"/>
          </a:p>
          <a:p>
            <a:r>
              <a:rPr lang="en-US" altLang="zh-CN"/>
              <a:t>        for idx in support_indices:</a:t>
            </a:r>
          </a:p>
          <a:p>
            <a:r>
              <a:rPr lang="en-US" altLang="zh-CN"/>
              <a:t>            img, _ = dataset[idx]</a:t>
            </a:r>
          </a:p>
          <a:p>
            <a:r>
              <a:rPr lang="en-US" altLang="zh-CN"/>
              <a:t>            support_images.append(img)</a:t>
            </a:r>
          </a:p>
          <a:p>
            <a:r>
              <a:rPr lang="en-US" altLang="zh-CN"/>
              <a:t>            support_labels.append(new_label)</a:t>
            </a:r>
          </a:p>
          <a:p>
            <a:endParaRPr lang="en-US" altLang="zh-CN"/>
          </a:p>
          <a:p>
            <a:r>
              <a:rPr lang="en-US" altLang="zh-CN"/>
              <a:t>        for idx in query_indices:</a:t>
            </a:r>
          </a:p>
          <a:p>
            <a:r>
              <a:rPr lang="en-US" altLang="zh-CN"/>
              <a:t>            img, _ = dataset[idx]</a:t>
            </a:r>
          </a:p>
          <a:p>
            <a:r>
              <a:rPr lang="en-US" altLang="zh-CN"/>
              <a:t>            query_images.append(img)</a:t>
            </a:r>
          </a:p>
          <a:p>
            <a:r>
              <a:rPr lang="en-US" altLang="zh-CN"/>
              <a:t>            query_labels.append(new_label)</a:t>
            </a:r>
          </a:p>
          <a:p>
            <a:r>
              <a:rPr lang="en-US" altLang="zh-CN">
                <a:sym typeface="+mn-ea"/>
              </a:rPr>
              <a:t> </a:t>
            </a:r>
          </a:p>
          <a:p>
            <a:r>
              <a:rPr lang="en-US" altLang="zh-CN">
                <a:sym typeface="+mn-ea"/>
              </a:rPr>
              <a:t> support_images = torch.stack(support_images)</a:t>
            </a:r>
            <a:endParaRPr lang="en-US" altLang="zh-CN"/>
          </a:p>
          <a:p>
            <a:r>
              <a:rPr lang="en-US" altLang="zh-CN">
                <a:sym typeface="+mn-ea"/>
              </a:rPr>
              <a:t>    support_labels = torch.tensor(support_labels)</a:t>
            </a:r>
            <a:endParaRPr lang="en-US" altLang="zh-CN"/>
          </a:p>
          <a:p>
            <a:r>
              <a:rPr lang="en-US" altLang="zh-CN">
                <a:sym typeface="+mn-ea"/>
              </a:rPr>
              <a:t>    query_images = torch.stack(query_images)</a:t>
            </a:r>
            <a:endParaRPr lang="en-US" altLang="zh-CN"/>
          </a:p>
          <a:p>
            <a:r>
              <a:rPr lang="en-US" altLang="zh-CN">
                <a:sym typeface="+mn-ea"/>
              </a:rPr>
              <a:t>    query_labels = torch.tensor(query_labels)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    return support_images, support_labels, query_images, query_labels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4693900" y="2971800"/>
            <a:ext cx="8128000" cy="9765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support_images, support_labels, query_images, query_labels = sample_episode()</a:t>
            </a:r>
          </a:p>
          <a:p>
            <a:endParaRPr lang="en-US" altLang="zh-CN"/>
          </a:p>
          <a:p>
            <a:r>
              <a:rPr lang="en-US" altLang="zh-CN"/>
              <a:t>print("support_images </a:t>
            </a:r>
            <a:r>
              <a:rPr lang="zh-CN" altLang="en-US"/>
              <a:t>形状：", </a:t>
            </a:r>
            <a:r>
              <a:rPr lang="en-US" altLang="zh-CN"/>
              <a:t>support_images.shape)</a:t>
            </a:r>
          </a:p>
          <a:p>
            <a:r>
              <a:rPr lang="en-US" altLang="zh-CN"/>
              <a:t>print("support_labels </a:t>
            </a:r>
            <a:r>
              <a:rPr lang="zh-CN" altLang="en-US"/>
              <a:t>形状：", </a:t>
            </a:r>
            <a:r>
              <a:rPr lang="en-US" altLang="zh-CN"/>
              <a:t>support_labels.shape)</a:t>
            </a:r>
          </a:p>
          <a:p>
            <a:r>
              <a:rPr lang="en-US" altLang="zh-CN"/>
              <a:t>print("query_images </a:t>
            </a:r>
            <a:r>
              <a:rPr lang="zh-CN" altLang="en-US"/>
              <a:t>形状：", </a:t>
            </a:r>
            <a:r>
              <a:rPr lang="en-US" altLang="zh-CN"/>
              <a:t>query_images.shape)</a:t>
            </a:r>
          </a:p>
          <a:p>
            <a:r>
              <a:rPr lang="en-US" altLang="zh-CN"/>
              <a:t>print("query_labels </a:t>
            </a:r>
            <a:r>
              <a:rPr lang="zh-CN" altLang="en-US"/>
              <a:t>形状：", </a:t>
            </a:r>
            <a:r>
              <a:rPr lang="en-US" altLang="zh-CN"/>
              <a:t>query_labels.shape)</a:t>
            </a:r>
          </a:p>
          <a:p>
            <a:endParaRPr lang="en-US" altLang="zh-CN"/>
          </a:p>
          <a:p>
            <a:r>
              <a:rPr lang="en-US" altLang="zh-CN"/>
              <a:t>plt.figure(figsize=(8, 5))</a:t>
            </a:r>
          </a:p>
          <a:p>
            <a:endParaRPr lang="en-US" altLang="zh-CN"/>
          </a:p>
          <a:p>
            <a:r>
              <a:rPr lang="en-US" altLang="zh-CN"/>
              <a:t>for i in range(25):</a:t>
            </a:r>
          </a:p>
          <a:p>
            <a:r>
              <a:rPr lang="en-US" altLang="zh-CN"/>
              <a:t>    plt.subplot(5, 5, i + 1)</a:t>
            </a:r>
          </a:p>
          <a:p>
            <a:r>
              <a:rPr lang="en-US" altLang="zh-CN"/>
              <a:t>    plt.imshow(support_images[i].squeeze(), cmap="gray")</a:t>
            </a:r>
          </a:p>
          <a:p>
            <a:r>
              <a:rPr lang="en-US" altLang="zh-CN"/>
              <a:t>    plt.title(f"Class {support_labels[i].item()}")</a:t>
            </a:r>
          </a:p>
          <a:p>
            <a:r>
              <a:rPr lang="en-US" altLang="zh-CN"/>
              <a:t>    plt.axis("off")</a:t>
            </a:r>
          </a:p>
          <a:p>
            <a:endParaRPr lang="en-US" altLang="zh-CN"/>
          </a:p>
          <a:p>
            <a:r>
              <a:rPr lang="en-US" altLang="zh-CN"/>
              <a:t>plt.suptitle("5-way 5-shot Support Set")</a:t>
            </a:r>
          </a:p>
          <a:p>
            <a:r>
              <a:rPr lang="en-US" altLang="zh-CN"/>
              <a:t>plt.savefig("outputs/03_episode_support_set_5way5shot.png", dpi=200, bbox_inches="tight")</a:t>
            </a:r>
          </a:p>
          <a:p>
            <a:r>
              <a:rPr lang="en-US" altLang="zh-CN"/>
              <a:t>plt.show()</a:t>
            </a:r>
          </a:p>
          <a:p>
            <a:endParaRPr lang="en-US" altLang="zh-CN"/>
          </a:p>
          <a:p>
            <a:r>
              <a:rPr lang="en-US" altLang="zh-CN"/>
              <a:t>plt.figure(figsize=(10, 6))</a:t>
            </a:r>
          </a:p>
          <a:p>
            <a:endParaRPr lang="en-US" altLang="zh-CN"/>
          </a:p>
          <a:p>
            <a:r>
              <a:rPr lang="en-US" altLang="zh-CN"/>
              <a:t>for i in range(30):</a:t>
            </a:r>
          </a:p>
          <a:p>
            <a:r>
              <a:rPr lang="en-US" altLang="zh-CN"/>
              <a:t>    plt.subplot(5, 6, i + 1)</a:t>
            </a:r>
          </a:p>
          <a:p>
            <a:r>
              <a:rPr lang="en-US" altLang="zh-CN"/>
              <a:t>    plt.imshow(query_images[i].squeeze(), cmap="gray")</a:t>
            </a:r>
          </a:p>
          <a:p>
            <a:r>
              <a:rPr lang="en-US" altLang="zh-CN"/>
              <a:t>    plt.title(f"Class {query_labels[i].item()}")</a:t>
            </a:r>
          </a:p>
          <a:p>
            <a:r>
              <a:rPr lang="en-US" altLang="zh-CN"/>
              <a:t>    plt.axis("off")</a:t>
            </a:r>
          </a:p>
          <a:p>
            <a:endParaRPr lang="en-US" altLang="zh-CN"/>
          </a:p>
          <a:p>
            <a:r>
              <a:rPr lang="en-US" altLang="zh-CN"/>
              <a:t>plt.suptitle("Query Set Samples")</a:t>
            </a:r>
          </a:p>
          <a:p>
            <a:r>
              <a:rPr lang="en-US" altLang="zh-CN"/>
              <a:t>plt.savefig("outputs/04_episode_query_set_samples.png", dpi=200, bbox_inches="tight")</a:t>
            </a:r>
          </a:p>
          <a:p>
            <a:r>
              <a:rPr lang="en-US" altLang="zh-CN"/>
              <a:t>plt.show()</a:t>
            </a:r>
          </a:p>
          <a:p>
            <a:endParaRPr lang="en-US" altLang="zh-CN"/>
          </a:p>
          <a:p>
            <a:r>
              <a:rPr lang="en-US" altLang="zh-CN"/>
              <a:t>print("Support Set </a:t>
            </a:r>
            <a:r>
              <a:rPr lang="zh-CN" altLang="en-US"/>
              <a:t>图片已保存：</a:t>
            </a:r>
            <a:r>
              <a:rPr lang="en-US" altLang="zh-CN"/>
              <a:t>outputs/03_episode_support_set_5way5shot.png")</a:t>
            </a:r>
          </a:p>
          <a:p>
            <a:r>
              <a:rPr lang="en-US" altLang="zh-CN"/>
              <a:t>print("Query Set </a:t>
            </a:r>
            <a:r>
              <a:rPr lang="zh-CN" altLang="en-US"/>
              <a:t>图片已保存：</a:t>
            </a:r>
            <a:r>
              <a:rPr lang="en-US" altLang="zh-CN"/>
              <a:t>outputs/04_episode_query_set_samples.png")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88504" y="192240"/>
            <a:ext cx="9934367" cy="1396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5-way 5-shot </a:t>
            </a:r>
            <a:r>
              <a:rPr lang="zh-CN" alt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支持采集样结果</a:t>
            </a:r>
            <a:endParaRPr lang="zh-CN" altLang="en-US" sz="5600" dirty="0"/>
          </a:p>
          <a:p>
            <a:endParaRPr lang="zh-CN" altLang="en-US" sz="6000" dirty="0"/>
          </a:p>
        </p:txBody>
      </p:sp>
      <p:pic>
        <p:nvPicPr>
          <p:cNvPr id="3" name="图片 2" descr="03_episode_support_set_5way5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825" y="1397000"/>
            <a:ext cx="16008350" cy="1216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92153" y="360037"/>
            <a:ext cx="5199693" cy="992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查询集样例展示</a:t>
            </a:r>
            <a:endParaRPr lang="zh-CN" altLang="en-US" sz="5600" dirty="0"/>
          </a:p>
        </p:txBody>
      </p:sp>
      <p:pic>
        <p:nvPicPr>
          <p:cNvPr id="3" name="图片 2" descr="04_episode_query_set_sam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565" y="1696720"/>
            <a:ext cx="15343505" cy="10893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采样验证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SAMPLING VERIFICATION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B9F940-E481-65D2-AD2E-2A3069D2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145" y="3937000"/>
            <a:ext cx="15268855" cy="9543034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F3545E2-159F-0C8C-B557-83E938A3C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51970"/>
              </p:ext>
            </p:extLst>
          </p:nvPr>
        </p:nvGraphicFramePr>
        <p:xfrm>
          <a:off x="1371600" y="5219700"/>
          <a:ext cx="9176328" cy="570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8164">
                  <a:extLst>
                    <a:ext uri="{9D8B030D-6E8A-4147-A177-3AD203B41FA5}">
                      <a16:colId xmlns:a16="http://schemas.microsoft.com/office/drawing/2014/main" val="363871649"/>
                    </a:ext>
                  </a:extLst>
                </a:gridCol>
                <a:gridCol w="4588164">
                  <a:extLst>
                    <a:ext uri="{9D8B030D-6E8A-4147-A177-3AD203B41FA5}">
                      <a16:colId xmlns:a16="http://schemas.microsoft.com/office/drawing/2014/main" val="2389203795"/>
                    </a:ext>
                  </a:extLst>
                </a:gridCol>
              </a:tblGrid>
              <a:tr h="1140460">
                <a:tc>
                  <a:txBody>
                    <a:bodyPr/>
                    <a:lstStyle/>
                    <a:p>
                      <a:pPr algn="l"/>
                      <a:endParaRPr lang="zh-CN" alt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8837"/>
                  </a:ext>
                </a:extLst>
              </a:tr>
              <a:tr h="1140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 err="1"/>
                        <a:t>supprot_images</a:t>
                      </a:r>
                      <a:endParaRPr lang="zh-CN" altLang="en-US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/>
                        <a:t>[25,</a:t>
                      </a:r>
                      <a:r>
                        <a:rPr lang="zh-CN" altLang="en-US" sz="4400" dirty="0"/>
                        <a:t> </a:t>
                      </a:r>
                      <a:r>
                        <a:rPr lang="en-US" altLang="zh-CN" sz="4400" dirty="0"/>
                        <a:t>1,</a:t>
                      </a:r>
                      <a:r>
                        <a:rPr lang="zh-CN" altLang="en-US" sz="4400" dirty="0"/>
                        <a:t> </a:t>
                      </a:r>
                      <a:r>
                        <a:rPr lang="en-US" altLang="zh-CN" sz="4400" dirty="0"/>
                        <a:t>28, 28]</a:t>
                      </a:r>
                      <a:endParaRPr lang="zh-CN" altLang="en-US" sz="4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272652"/>
                  </a:ext>
                </a:extLst>
              </a:tr>
              <a:tr h="1140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 err="1"/>
                        <a:t>support_labels</a:t>
                      </a:r>
                      <a:endParaRPr lang="zh-CN" altLang="en-US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/>
                        <a:t>[25]</a:t>
                      </a:r>
                      <a:endParaRPr lang="zh-CN" altLang="en-US" sz="4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358416"/>
                  </a:ext>
                </a:extLst>
              </a:tr>
              <a:tr h="1140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 err="1"/>
                        <a:t>query_images</a:t>
                      </a:r>
                      <a:endParaRPr lang="en-US" altLang="zh-CN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/>
                        <a:t>[75, 1, 28, 28]</a:t>
                      </a:r>
                      <a:endParaRPr lang="zh-CN" altLang="en-US" sz="4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578835"/>
                  </a:ext>
                </a:extLst>
              </a:tr>
              <a:tr h="1140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 err="1"/>
                        <a:t>query_labels</a:t>
                      </a:r>
                      <a:endParaRPr lang="zh-CN" altLang="en-US" sz="4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dirty="0"/>
                        <a:t>[75]</a:t>
                      </a:r>
                      <a:endParaRPr lang="zh-CN" altLang="en-US" sz="4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7426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E811A3F-E571-51FE-C219-602034F6EB2A}"/>
              </a:ext>
            </a:extLst>
          </p:cNvPr>
          <p:cNvSpPr txBox="1"/>
          <p:nvPr/>
        </p:nvSpPr>
        <p:spPr>
          <a:xfrm>
            <a:off x="1676400" y="5422900"/>
            <a:ext cx="401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</a:rPr>
              <a:t>类型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6C23B2-7076-9A0A-64AE-0C2D937C6648}"/>
              </a:ext>
            </a:extLst>
          </p:cNvPr>
          <p:cNvSpPr txBox="1"/>
          <p:nvPr/>
        </p:nvSpPr>
        <p:spPr>
          <a:xfrm>
            <a:off x="6245519" y="5422899"/>
            <a:ext cx="401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</a:rPr>
              <a:t>张量形状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6EEC1D-1983-5B05-CD3A-8D5CB727C20A}"/>
              </a:ext>
            </a:extLst>
          </p:cNvPr>
          <p:cNvSpPr txBox="1"/>
          <p:nvPr/>
        </p:nvSpPr>
        <p:spPr>
          <a:xfrm>
            <a:off x="1371600" y="11582257"/>
            <a:ext cx="9176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其中</a:t>
            </a:r>
            <a:r>
              <a:rPr lang="en-US" altLang="zh-CN" sz="3600" b="1" dirty="0"/>
              <a:t>[1, 28, 28] </a:t>
            </a:r>
            <a:r>
              <a:rPr lang="zh-CN" altLang="en-US" sz="3600" dirty="0"/>
              <a:t>表示每张图片是单通道灰度图，大小为 </a:t>
            </a:r>
            <a:r>
              <a:rPr lang="en-US" altLang="zh-CN" sz="3600" dirty="0"/>
              <a:t>28×28</a:t>
            </a:r>
            <a:endParaRPr lang="zh-CN" altLang="en-US" sz="3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模型方法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PROTOTYPICAL NETWORK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826000"/>
            <a:ext cx="21640800" cy="2032000"/>
          </a:xfrm>
          <a:prstGeom prst="roundRect">
            <a:avLst>
              <a:gd name="adj" fmla="val 5000"/>
            </a:avLst>
          </a:prstGeom>
          <a:solidFill>
            <a:srgbClr val="4361EE"/>
          </a:solidFill>
        </p:spPr>
      </p:sp>
      <p:sp>
        <p:nvSpPr>
          <p:cNvPr id="8" name="Text 6"/>
          <p:cNvSpPr/>
          <p:nvPr/>
        </p:nvSpPr>
        <p:spPr>
          <a:xfrm>
            <a:off x="1879600" y="5080000"/>
            <a:ext cx="206248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  <a:cs typeface="Quattrocento Sans" pitchFamily="34" charset="-120"/>
              </a:rPr>
              <a:t>核心思想：</a:t>
            </a:r>
            <a:r>
              <a:rPr lang="en-US" sz="2800" dirty="0">
                <a:solidFill>
                  <a:srgbClr val="FFFFFF"/>
                </a:solidFill>
                <a:latin typeface="+mn-ea"/>
                <a:cs typeface="Quattrocento Sans" pitchFamily="34" charset="-120"/>
              </a:rPr>
              <a:t>通过计算样本到类别原型的距离进行分类。每个类别的原型为其 Support Set 样本特征向量的均值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33500" y="7366000"/>
            <a:ext cx="6731000" cy="482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9600" y="787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73403" y="109141"/>
                </a:moveTo>
                <a:lnTo>
                  <a:pt x="361597" y="109141"/>
                </a:lnTo>
                <a:lnTo>
                  <a:pt x="361597" y="168672"/>
                </a:lnTo>
                <a:lnTo>
                  <a:pt x="273403" y="168672"/>
                </a:lnTo>
                <a:lnTo>
                  <a:pt x="273403" y="109141"/>
                </a:lnTo>
                <a:close/>
                <a:moveTo>
                  <a:pt x="264583" y="39688"/>
                </a:moveTo>
                <a:cubicBezTo>
                  <a:pt x="235369" y="39688"/>
                  <a:pt x="211667" y="66353"/>
                  <a:pt x="211667" y="99219"/>
                </a:cubicBezTo>
                <a:lnTo>
                  <a:pt x="211667" y="178594"/>
                </a:lnTo>
                <a:cubicBezTo>
                  <a:pt x="211667" y="211460"/>
                  <a:pt x="235369" y="238125"/>
                  <a:pt x="264583" y="238125"/>
                </a:cubicBezTo>
                <a:lnTo>
                  <a:pt x="282222" y="238125"/>
                </a:lnTo>
                <a:lnTo>
                  <a:pt x="282222" y="277813"/>
                </a:lnTo>
                <a:lnTo>
                  <a:pt x="35278" y="277813"/>
                </a:lnTo>
                <a:cubicBezTo>
                  <a:pt x="15765" y="277813"/>
                  <a:pt x="0" y="295548"/>
                  <a:pt x="0" y="317500"/>
                </a:cubicBezTo>
                <a:cubicBezTo>
                  <a:pt x="0" y="339452"/>
                  <a:pt x="15765" y="357188"/>
                  <a:pt x="35278" y="357188"/>
                </a:cubicBezTo>
                <a:lnTo>
                  <a:pt x="141111" y="357188"/>
                </a:lnTo>
                <a:lnTo>
                  <a:pt x="141111" y="396875"/>
                </a:lnTo>
                <a:lnTo>
                  <a:pt x="123472" y="396875"/>
                </a:lnTo>
                <a:cubicBezTo>
                  <a:pt x="94258" y="396875"/>
                  <a:pt x="70556" y="423540"/>
                  <a:pt x="70556" y="456406"/>
                </a:cubicBezTo>
                <a:lnTo>
                  <a:pt x="70556" y="535781"/>
                </a:lnTo>
                <a:cubicBezTo>
                  <a:pt x="70556" y="568647"/>
                  <a:pt x="94258" y="595313"/>
                  <a:pt x="123472" y="595313"/>
                </a:cubicBezTo>
                <a:lnTo>
                  <a:pt x="229306" y="595313"/>
                </a:lnTo>
                <a:cubicBezTo>
                  <a:pt x="258520" y="595313"/>
                  <a:pt x="282222" y="568647"/>
                  <a:pt x="282222" y="535781"/>
                </a:cubicBezTo>
                <a:lnTo>
                  <a:pt x="282222" y="456406"/>
                </a:lnTo>
                <a:cubicBezTo>
                  <a:pt x="282222" y="423540"/>
                  <a:pt x="258520" y="396875"/>
                  <a:pt x="229306" y="396875"/>
                </a:cubicBezTo>
                <a:lnTo>
                  <a:pt x="211667" y="396875"/>
                </a:lnTo>
                <a:lnTo>
                  <a:pt x="211667" y="357188"/>
                </a:lnTo>
                <a:lnTo>
                  <a:pt x="423333" y="357188"/>
                </a:lnTo>
                <a:lnTo>
                  <a:pt x="423333" y="396875"/>
                </a:lnTo>
                <a:lnTo>
                  <a:pt x="405694" y="396875"/>
                </a:lnTo>
                <a:cubicBezTo>
                  <a:pt x="376480" y="396875"/>
                  <a:pt x="352778" y="423540"/>
                  <a:pt x="352778" y="456406"/>
                </a:cubicBezTo>
                <a:lnTo>
                  <a:pt x="352778" y="535781"/>
                </a:lnTo>
                <a:cubicBezTo>
                  <a:pt x="352778" y="568647"/>
                  <a:pt x="376480" y="595313"/>
                  <a:pt x="405694" y="595313"/>
                </a:cubicBezTo>
                <a:lnTo>
                  <a:pt x="511528" y="595313"/>
                </a:lnTo>
                <a:cubicBezTo>
                  <a:pt x="540742" y="595313"/>
                  <a:pt x="564444" y="568647"/>
                  <a:pt x="564444" y="535781"/>
                </a:cubicBezTo>
                <a:lnTo>
                  <a:pt x="564444" y="456406"/>
                </a:lnTo>
                <a:cubicBezTo>
                  <a:pt x="564444" y="423540"/>
                  <a:pt x="540742" y="396875"/>
                  <a:pt x="511528" y="396875"/>
                </a:cubicBezTo>
                <a:lnTo>
                  <a:pt x="493889" y="396875"/>
                </a:lnTo>
                <a:lnTo>
                  <a:pt x="493889" y="357188"/>
                </a:lnTo>
                <a:lnTo>
                  <a:pt x="599722" y="357188"/>
                </a:lnTo>
                <a:cubicBezTo>
                  <a:pt x="619235" y="357188"/>
                  <a:pt x="635000" y="339452"/>
                  <a:pt x="635000" y="317500"/>
                </a:cubicBezTo>
                <a:cubicBezTo>
                  <a:pt x="635000" y="295548"/>
                  <a:pt x="619235" y="277813"/>
                  <a:pt x="599722" y="277813"/>
                </a:cubicBezTo>
                <a:lnTo>
                  <a:pt x="352778" y="277813"/>
                </a:lnTo>
                <a:lnTo>
                  <a:pt x="352778" y="238125"/>
                </a:lnTo>
                <a:lnTo>
                  <a:pt x="370417" y="238125"/>
                </a:lnTo>
                <a:cubicBezTo>
                  <a:pt x="399631" y="238125"/>
                  <a:pt x="423333" y="211460"/>
                  <a:pt x="423333" y="178594"/>
                </a:cubicBezTo>
                <a:lnTo>
                  <a:pt x="423333" y="99219"/>
                </a:lnTo>
                <a:cubicBezTo>
                  <a:pt x="423333" y="66353"/>
                  <a:pt x="399631" y="39688"/>
                  <a:pt x="370417" y="39688"/>
                </a:cubicBezTo>
                <a:lnTo>
                  <a:pt x="264583" y="39688"/>
                </a:lnTo>
                <a:close/>
                <a:moveTo>
                  <a:pt x="493889" y="466328"/>
                </a:moveTo>
                <a:lnTo>
                  <a:pt x="502708" y="466328"/>
                </a:lnTo>
                <a:lnTo>
                  <a:pt x="502708" y="525859"/>
                </a:lnTo>
                <a:lnTo>
                  <a:pt x="414514" y="525859"/>
                </a:lnTo>
                <a:lnTo>
                  <a:pt x="414514" y="466328"/>
                </a:lnTo>
                <a:lnTo>
                  <a:pt x="493889" y="466328"/>
                </a:lnTo>
                <a:close/>
                <a:moveTo>
                  <a:pt x="211667" y="466328"/>
                </a:moveTo>
                <a:lnTo>
                  <a:pt x="220486" y="466328"/>
                </a:lnTo>
                <a:lnTo>
                  <a:pt x="220486" y="525859"/>
                </a:lnTo>
                <a:lnTo>
                  <a:pt x="132292" y="525859"/>
                </a:lnTo>
                <a:lnTo>
                  <a:pt x="132292" y="466328"/>
                </a:lnTo>
                <a:lnTo>
                  <a:pt x="211667" y="466328"/>
                </a:lnTo>
                <a:close/>
              </a:path>
            </a:pathLst>
          </a:custGeom>
          <a:solidFill>
            <a:srgbClr val="4361EE"/>
          </a:solidFill>
        </p:spPr>
      </p:sp>
      <p:sp>
        <p:nvSpPr>
          <p:cNvPr id="11" name="Text 9"/>
          <p:cNvSpPr/>
          <p:nvPr/>
        </p:nvSpPr>
        <p:spPr>
          <a:xfrm>
            <a:off x="1879600" y="8763000"/>
            <a:ext cx="5715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编码器结构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79600" y="9461500"/>
            <a:ext cx="598769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latin typeface="+mn-ea"/>
              </a:rPr>
              <a:t>4</a:t>
            </a:r>
            <a:r>
              <a:rPr lang="zh-CN" altLang="en-US" sz="3200" dirty="0">
                <a:latin typeface="+mn-ea"/>
              </a:rPr>
              <a:t>层 </a:t>
            </a:r>
            <a:r>
              <a:rPr lang="en-US" sz="3200" b="1" dirty="0">
                <a:latin typeface="+mn-ea"/>
              </a:rPr>
              <a:t>Conv2d(3×3) + BN + </a:t>
            </a:r>
            <a:r>
              <a:rPr lang="en-US" sz="3200" b="1" dirty="0" err="1">
                <a:latin typeface="+mn-ea"/>
              </a:rPr>
              <a:t>ReLU</a:t>
            </a:r>
            <a:r>
              <a:rPr lang="en-US" sz="3200" b="1" dirty="0">
                <a:latin typeface="+mn-ea"/>
              </a:rPr>
              <a:t> + MaxPool2d(2×2)</a:t>
            </a:r>
            <a:r>
              <a:rPr lang="en-US" sz="3200" dirty="0">
                <a:latin typeface="+mn-ea"/>
              </a:rPr>
              <a:t>，</a:t>
            </a:r>
            <a:r>
              <a:rPr lang="zh-CN" altLang="en-US" sz="3200" dirty="0">
                <a:latin typeface="+mn-ea"/>
              </a:rPr>
              <a:t>展平输出</a:t>
            </a:r>
            <a:endParaRPr lang="en-US" sz="3200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26500" y="7366000"/>
            <a:ext cx="6731000" cy="482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34500" y="787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30518" y="640209"/>
                </a:moveTo>
                <a:cubicBezTo>
                  <a:pt x="209903" y="663401"/>
                  <a:pt x="176389" y="663401"/>
                  <a:pt x="155663" y="640209"/>
                </a:cubicBezTo>
                <a:lnTo>
                  <a:pt x="30978" y="499938"/>
                </a:lnTo>
                <a:cubicBezTo>
                  <a:pt x="10363" y="476746"/>
                  <a:pt x="10363" y="439043"/>
                  <a:pt x="30978" y="415727"/>
                </a:cubicBezTo>
                <a:lnTo>
                  <a:pt x="49720" y="394643"/>
                </a:lnTo>
                <a:lnTo>
                  <a:pt x="130748" y="485800"/>
                </a:lnTo>
                <a:cubicBezTo>
                  <a:pt x="141111" y="497458"/>
                  <a:pt x="157868" y="497458"/>
                  <a:pt x="168121" y="485800"/>
                </a:cubicBezTo>
                <a:cubicBezTo>
                  <a:pt x="178373" y="474142"/>
                  <a:pt x="178484" y="455290"/>
                  <a:pt x="168121" y="443756"/>
                </a:cubicBezTo>
                <a:lnTo>
                  <a:pt x="87092" y="352599"/>
                </a:lnTo>
                <a:lnTo>
                  <a:pt x="124464" y="310555"/>
                </a:lnTo>
                <a:lnTo>
                  <a:pt x="180578" y="373683"/>
                </a:lnTo>
                <a:cubicBezTo>
                  <a:pt x="190941" y="385341"/>
                  <a:pt x="207698" y="385341"/>
                  <a:pt x="217951" y="373683"/>
                </a:cubicBezTo>
                <a:cubicBezTo>
                  <a:pt x="228203" y="362024"/>
                  <a:pt x="228313" y="343173"/>
                  <a:pt x="217951" y="331639"/>
                </a:cubicBezTo>
                <a:lnTo>
                  <a:pt x="161837" y="268511"/>
                </a:lnTo>
                <a:lnTo>
                  <a:pt x="199209" y="226467"/>
                </a:lnTo>
                <a:lnTo>
                  <a:pt x="280238" y="317624"/>
                </a:lnTo>
                <a:cubicBezTo>
                  <a:pt x="290601" y="329282"/>
                  <a:pt x="307358" y="329282"/>
                  <a:pt x="317610" y="317624"/>
                </a:cubicBezTo>
                <a:cubicBezTo>
                  <a:pt x="327863" y="305966"/>
                  <a:pt x="327973" y="287114"/>
                  <a:pt x="317610" y="275580"/>
                </a:cubicBezTo>
                <a:lnTo>
                  <a:pt x="236582" y="184423"/>
                </a:lnTo>
                <a:lnTo>
                  <a:pt x="273954" y="142379"/>
                </a:lnTo>
                <a:lnTo>
                  <a:pt x="330068" y="205507"/>
                </a:lnTo>
                <a:cubicBezTo>
                  <a:pt x="340431" y="217165"/>
                  <a:pt x="357188" y="217165"/>
                  <a:pt x="367440" y="205507"/>
                </a:cubicBezTo>
                <a:cubicBezTo>
                  <a:pt x="377693" y="193849"/>
                  <a:pt x="377803" y="174997"/>
                  <a:pt x="367440" y="163463"/>
                </a:cubicBezTo>
                <a:lnTo>
                  <a:pt x="311326" y="100335"/>
                </a:lnTo>
                <a:lnTo>
                  <a:pt x="348699" y="58291"/>
                </a:lnTo>
                <a:lnTo>
                  <a:pt x="429727" y="149448"/>
                </a:lnTo>
                <a:cubicBezTo>
                  <a:pt x="440090" y="161106"/>
                  <a:pt x="456847" y="161106"/>
                  <a:pt x="467100" y="149448"/>
                </a:cubicBezTo>
                <a:cubicBezTo>
                  <a:pt x="477352" y="137790"/>
                  <a:pt x="477463" y="118938"/>
                  <a:pt x="467100" y="107404"/>
                </a:cubicBezTo>
                <a:lnTo>
                  <a:pt x="386071" y="16247"/>
                </a:lnTo>
                <a:lnTo>
                  <a:pt x="404812" y="-4837"/>
                </a:lnTo>
                <a:cubicBezTo>
                  <a:pt x="425428" y="-28029"/>
                  <a:pt x="458942" y="-28029"/>
                  <a:pt x="479668" y="-4837"/>
                </a:cubicBezTo>
                <a:lnTo>
                  <a:pt x="604683" y="135062"/>
                </a:lnTo>
                <a:cubicBezTo>
                  <a:pt x="625299" y="158254"/>
                  <a:pt x="625299" y="195957"/>
                  <a:pt x="604683" y="219273"/>
                </a:cubicBezTo>
                <a:lnTo>
                  <a:pt x="230518" y="640209"/>
                </a:lnTo>
                <a:close/>
              </a:path>
            </a:pathLst>
          </a:custGeom>
          <a:solidFill>
            <a:srgbClr val="4361EE"/>
          </a:solidFill>
        </p:spPr>
      </p:sp>
      <p:sp>
        <p:nvSpPr>
          <p:cNvPr id="15" name="Text 13"/>
          <p:cNvSpPr/>
          <p:nvPr/>
        </p:nvSpPr>
        <p:spPr>
          <a:xfrm>
            <a:off x="9334500" y="8763000"/>
            <a:ext cx="5715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距离度量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334500" y="9461500"/>
            <a:ext cx="5715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欧几里得距离（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L2</a:t>
            </a:r>
            <a:r>
              <a:rPr lang="zh-CN" altLang="en-US" sz="3200" b="1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距离）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，取负值作为得分</a:t>
            </a:r>
            <a:endParaRPr lang="en-US" sz="3200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6281400" y="7366000"/>
            <a:ext cx="6731000" cy="482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89400" y="787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05833" y="0"/>
                </a:moveTo>
                <a:cubicBezTo>
                  <a:pt x="47460" y="0"/>
                  <a:pt x="0" y="35595"/>
                  <a:pt x="0" y="79375"/>
                </a:cubicBezTo>
                <a:lnTo>
                  <a:pt x="0" y="555625"/>
                </a:lnTo>
                <a:cubicBezTo>
                  <a:pt x="0" y="599405"/>
                  <a:pt x="47460" y="635000"/>
                  <a:pt x="105833" y="635000"/>
                </a:cubicBezTo>
                <a:lnTo>
                  <a:pt x="529167" y="635000"/>
                </a:lnTo>
                <a:cubicBezTo>
                  <a:pt x="587540" y="635000"/>
                  <a:pt x="635000" y="599405"/>
                  <a:pt x="635000" y="555625"/>
                </a:cubicBezTo>
                <a:lnTo>
                  <a:pt x="635000" y="79375"/>
                </a:lnTo>
                <a:cubicBezTo>
                  <a:pt x="635000" y="35595"/>
                  <a:pt x="587540" y="0"/>
                  <a:pt x="529167" y="0"/>
                </a:cubicBezTo>
                <a:lnTo>
                  <a:pt x="105833" y="0"/>
                </a:lnTo>
                <a:close/>
                <a:moveTo>
                  <a:pt x="158750" y="79375"/>
                </a:moveTo>
                <a:lnTo>
                  <a:pt x="476250" y="79375"/>
                </a:lnTo>
                <a:cubicBezTo>
                  <a:pt x="505520" y="79375"/>
                  <a:pt x="529167" y="97110"/>
                  <a:pt x="529167" y="119062"/>
                </a:cubicBezTo>
                <a:lnTo>
                  <a:pt x="529167" y="158750"/>
                </a:lnTo>
                <a:cubicBezTo>
                  <a:pt x="529167" y="180702"/>
                  <a:pt x="505520" y="198438"/>
                  <a:pt x="476250" y="198438"/>
                </a:cubicBezTo>
                <a:lnTo>
                  <a:pt x="158750" y="198438"/>
                </a:lnTo>
                <a:cubicBezTo>
                  <a:pt x="129480" y="198438"/>
                  <a:pt x="105833" y="180702"/>
                  <a:pt x="105833" y="158750"/>
                </a:cubicBezTo>
                <a:lnTo>
                  <a:pt x="105833" y="119062"/>
                </a:lnTo>
                <a:cubicBezTo>
                  <a:pt x="105833" y="97110"/>
                  <a:pt x="129480" y="79375"/>
                  <a:pt x="158750" y="79375"/>
                </a:cubicBezTo>
                <a:close/>
                <a:moveTo>
                  <a:pt x="185208" y="287734"/>
                </a:moveTo>
                <a:cubicBezTo>
                  <a:pt x="185208" y="304162"/>
                  <a:pt x="167425" y="317500"/>
                  <a:pt x="145521" y="317500"/>
                </a:cubicBezTo>
                <a:cubicBezTo>
                  <a:pt x="123617" y="317500"/>
                  <a:pt x="105833" y="304162"/>
                  <a:pt x="105833" y="287734"/>
                </a:cubicBezTo>
                <a:cubicBezTo>
                  <a:pt x="105833" y="271306"/>
                  <a:pt x="123617" y="257969"/>
                  <a:pt x="145521" y="257969"/>
                </a:cubicBezTo>
                <a:cubicBezTo>
                  <a:pt x="167425" y="257969"/>
                  <a:pt x="185208" y="271306"/>
                  <a:pt x="185208" y="287734"/>
                </a:cubicBezTo>
                <a:close/>
                <a:moveTo>
                  <a:pt x="317500" y="317500"/>
                </a:moveTo>
                <a:cubicBezTo>
                  <a:pt x="295596" y="317500"/>
                  <a:pt x="277813" y="304162"/>
                  <a:pt x="277813" y="287734"/>
                </a:cubicBezTo>
                <a:cubicBezTo>
                  <a:pt x="277813" y="271306"/>
                  <a:pt x="295596" y="257969"/>
                  <a:pt x="317500" y="257969"/>
                </a:cubicBezTo>
                <a:cubicBezTo>
                  <a:pt x="339404" y="257969"/>
                  <a:pt x="357188" y="271306"/>
                  <a:pt x="357188" y="287734"/>
                </a:cubicBezTo>
                <a:cubicBezTo>
                  <a:pt x="357188" y="304162"/>
                  <a:pt x="339404" y="317500"/>
                  <a:pt x="317500" y="317500"/>
                </a:cubicBezTo>
                <a:close/>
                <a:moveTo>
                  <a:pt x="529167" y="287734"/>
                </a:moveTo>
                <a:cubicBezTo>
                  <a:pt x="529167" y="304162"/>
                  <a:pt x="511383" y="317500"/>
                  <a:pt x="489479" y="317500"/>
                </a:cubicBezTo>
                <a:cubicBezTo>
                  <a:pt x="467575" y="317500"/>
                  <a:pt x="449792" y="304162"/>
                  <a:pt x="449792" y="287734"/>
                </a:cubicBezTo>
                <a:cubicBezTo>
                  <a:pt x="449792" y="271306"/>
                  <a:pt x="467575" y="257969"/>
                  <a:pt x="489479" y="257969"/>
                </a:cubicBezTo>
                <a:cubicBezTo>
                  <a:pt x="511383" y="257969"/>
                  <a:pt x="529167" y="271306"/>
                  <a:pt x="529167" y="287734"/>
                </a:cubicBezTo>
                <a:close/>
                <a:moveTo>
                  <a:pt x="145521" y="436563"/>
                </a:moveTo>
                <a:cubicBezTo>
                  <a:pt x="123617" y="436563"/>
                  <a:pt x="105833" y="423225"/>
                  <a:pt x="105833" y="406797"/>
                </a:cubicBezTo>
                <a:cubicBezTo>
                  <a:pt x="105833" y="390369"/>
                  <a:pt x="123617" y="377031"/>
                  <a:pt x="145521" y="377031"/>
                </a:cubicBezTo>
                <a:cubicBezTo>
                  <a:pt x="167425" y="377031"/>
                  <a:pt x="185208" y="390369"/>
                  <a:pt x="185208" y="406797"/>
                </a:cubicBezTo>
                <a:cubicBezTo>
                  <a:pt x="185208" y="423225"/>
                  <a:pt x="167425" y="436563"/>
                  <a:pt x="145521" y="436563"/>
                </a:cubicBezTo>
                <a:close/>
                <a:moveTo>
                  <a:pt x="357188" y="406797"/>
                </a:moveTo>
                <a:cubicBezTo>
                  <a:pt x="357188" y="423225"/>
                  <a:pt x="339404" y="436563"/>
                  <a:pt x="317500" y="436563"/>
                </a:cubicBezTo>
                <a:cubicBezTo>
                  <a:pt x="295596" y="436563"/>
                  <a:pt x="277813" y="423225"/>
                  <a:pt x="277813" y="406797"/>
                </a:cubicBezTo>
                <a:cubicBezTo>
                  <a:pt x="277813" y="390369"/>
                  <a:pt x="295596" y="377031"/>
                  <a:pt x="317500" y="377031"/>
                </a:cubicBezTo>
                <a:cubicBezTo>
                  <a:pt x="339404" y="377031"/>
                  <a:pt x="357188" y="390369"/>
                  <a:pt x="357188" y="406797"/>
                </a:cubicBezTo>
                <a:close/>
                <a:moveTo>
                  <a:pt x="489479" y="436563"/>
                </a:moveTo>
                <a:cubicBezTo>
                  <a:pt x="467575" y="436563"/>
                  <a:pt x="449792" y="423225"/>
                  <a:pt x="449792" y="406797"/>
                </a:cubicBezTo>
                <a:cubicBezTo>
                  <a:pt x="449792" y="390369"/>
                  <a:pt x="467575" y="377031"/>
                  <a:pt x="489479" y="377031"/>
                </a:cubicBezTo>
                <a:cubicBezTo>
                  <a:pt x="511383" y="377031"/>
                  <a:pt x="529167" y="390369"/>
                  <a:pt x="529167" y="406797"/>
                </a:cubicBezTo>
                <a:cubicBezTo>
                  <a:pt x="529167" y="423225"/>
                  <a:pt x="511383" y="436563"/>
                  <a:pt x="489479" y="436563"/>
                </a:cubicBezTo>
                <a:close/>
                <a:moveTo>
                  <a:pt x="105833" y="525859"/>
                </a:moveTo>
                <a:cubicBezTo>
                  <a:pt x="105833" y="509364"/>
                  <a:pt x="123527" y="496094"/>
                  <a:pt x="145521" y="496094"/>
                </a:cubicBezTo>
                <a:lnTo>
                  <a:pt x="330729" y="496094"/>
                </a:lnTo>
                <a:cubicBezTo>
                  <a:pt x="352723" y="496094"/>
                  <a:pt x="370417" y="509364"/>
                  <a:pt x="370417" y="525859"/>
                </a:cubicBezTo>
                <a:cubicBezTo>
                  <a:pt x="370417" y="542354"/>
                  <a:pt x="352723" y="555625"/>
                  <a:pt x="330729" y="555625"/>
                </a:cubicBezTo>
                <a:lnTo>
                  <a:pt x="145521" y="555625"/>
                </a:lnTo>
                <a:cubicBezTo>
                  <a:pt x="123527" y="555625"/>
                  <a:pt x="105833" y="542354"/>
                  <a:pt x="105833" y="525859"/>
                </a:cubicBezTo>
                <a:close/>
                <a:moveTo>
                  <a:pt x="489479" y="496094"/>
                </a:moveTo>
                <a:cubicBezTo>
                  <a:pt x="511473" y="496094"/>
                  <a:pt x="529167" y="509364"/>
                  <a:pt x="529167" y="525859"/>
                </a:cubicBezTo>
                <a:cubicBezTo>
                  <a:pt x="529167" y="542354"/>
                  <a:pt x="511473" y="555625"/>
                  <a:pt x="489479" y="555625"/>
                </a:cubicBezTo>
                <a:cubicBezTo>
                  <a:pt x="467486" y="555625"/>
                  <a:pt x="449792" y="542354"/>
                  <a:pt x="449792" y="525859"/>
                </a:cubicBezTo>
                <a:cubicBezTo>
                  <a:pt x="449792" y="509364"/>
                  <a:pt x="467486" y="496094"/>
                  <a:pt x="489479" y="496094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9" name="Text 17"/>
          <p:cNvSpPr/>
          <p:nvPr/>
        </p:nvSpPr>
        <p:spPr>
          <a:xfrm>
            <a:off x="16789400" y="8763000"/>
            <a:ext cx="5715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分类方式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789400" y="9461500"/>
            <a:ext cx="5715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zh-CN" sz="3200" dirty="0"/>
              <a:t>基于原型的</a:t>
            </a:r>
            <a:r>
              <a:rPr lang="zh-CN" altLang="zh-CN" sz="3200" b="1" dirty="0"/>
              <a:t>最近邻分类 + 交叉熵损失优化</a:t>
            </a:r>
            <a:r>
              <a:rPr lang="zh-CN" altLang="zh-CN" sz="3200" dirty="0"/>
              <a:t>（训练时软分类，测试时硬分类</a:t>
            </a:r>
            <a:r>
              <a:rPr lang="zh-CN" altLang="zh-CN" dirty="0"/>
              <a:t>）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训练过程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TRAINING PROCESS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826000"/>
            <a:ext cx="21640800" cy="1270000"/>
          </a:xfrm>
          <a:prstGeom prst="roundRect">
            <a:avLst>
              <a:gd name="adj" fmla="val 5000"/>
            </a:avLst>
          </a:prstGeom>
          <a:solidFill>
            <a:srgbClr val="0F1B3D"/>
          </a:solidFill>
        </p:spPr>
      </p:sp>
      <p:sp>
        <p:nvSpPr>
          <p:cNvPr id="8" name="Text 6"/>
          <p:cNvSpPr/>
          <p:nvPr/>
        </p:nvSpPr>
        <p:spPr>
          <a:xfrm>
            <a:off x="1879600" y="5016500"/>
            <a:ext cx="206248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训练方式：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Episode 训练 — 每个 Episode </a:t>
            </a:r>
            <a:r>
              <a:rPr lang="en-US" sz="28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随机采样</a:t>
            </a: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5-way 5-shot 任务进行训练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71600" y="6604000"/>
            <a:ext cx="13970000" cy="5588000"/>
          </a:xfrm>
          <a:prstGeom prst="roundRect">
            <a:avLst>
              <a:gd name="adj" fmla="val 5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Shape 9"/>
          <p:cNvSpPr/>
          <p:nvPr/>
        </p:nvSpPr>
        <p:spPr>
          <a:xfrm>
            <a:off x="15900400" y="6604000"/>
            <a:ext cx="7112000" cy="5588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08400" y="6985000"/>
            <a:ext cx="609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超参数设置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08400" y="7747000"/>
            <a:ext cx="6096000" cy="4077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 N_WAY: 5</a:t>
            </a:r>
          </a:p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•N_SHOT: 5</a:t>
            </a:r>
          </a:p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•N_QUERY 15</a:t>
            </a:r>
          </a:p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•TRAIN_EPISODES: 300</a:t>
            </a:r>
          </a:p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•TEST_EPISODES: 100</a:t>
            </a:r>
          </a:p>
          <a:p>
            <a:pPr>
              <a:lnSpc>
                <a:spcPct val="18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New time rome"/>
                <a:ea typeface="Quattrocento Sans" pitchFamily="34" charset="-122"/>
                <a:cs typeface="Quattrocento Sans" pitchFamily="34" charset="-120"/>
              </a:rPr>
              <a:t>•LEARING_RATE: 0.001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实验结果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EXPERIMENT RESULTS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318000"/>
            <a:ext cx="10414000" cy="5842000"/>
          </a:xfrm>
          <a:prstGeom prst="roundRect">
            <a:avLst>
              <a:gd name="adj" fmla="val 5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98400" y="4318000"/>
            <a:ext cx="10414000" cy="5842000"/>
          </a:xfrm>
          <a:prstGeom prst="roundRect">
            <a:avLst>
              <a:gd name="adj" fmla="val 5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Shape 9"/>
          <p:cNvSpPr/>
          <p:nvPr/>
        </p:nvSpPr>
        <p:spPr>
          <a:xfrm>
            <a:off x="1371600" y="10414000"/>
            <a:ext cx="21640800" cy="1778000"/>
          </a:xfrm>
          <a:prstGeom prst="roundRect">
            <a:avLst>
              <a:gd name="adj" fmla="val 5000"/>
            </a:avLst>
          </a:prstGeom>
          <a:solidFill>
            <a:srgbClr val="4361EE"/>
          </a:solidFill>
        </p:spPr>
      </p:sp>
      <p:sp>
        <p:nvSpPr>
          <p:cNvPr id="12" name="Text 10"/>
          <p:cNvSpPr/>
          <p:nvPr/>
        </p:nvSpPr>
        <p:spPr>
          <a:xfrm>
            <a:off x="1879600" y="10795000"/>
            <a:ext cx="206248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6600" dirty="0">
                <a:solidFill>
                  <a:srgbClr val="FFFFFF"/>
                </a:solidFill>
                <a:cs typeface="Quattrocento Sans" pitchFamily="34" charset="-120"/>
              </a:rPr>
              <a:t>平均测试</a:t>
            </a:r>
            <a:r>
              <a:rPr lang="en-US" sz="6600" dirty="0">
                <a:solidFill>
                  <a:srgbClr val="FFFFFF"/>
                </a:solidFill>
                <a:cs typeface="Quattrocento Sans" pitchFamily="34" charset="-120"/>
              </a:rPr>
              <a:t>准确率：</a:t>
            </a:r>
            <a:r>
              <a:rPr lang="en-US" altLang="zh-CN" sz="6600" b="1" dirty="0">
                <a:solidFill>
                  <a:srgbClr val="FFFFFF"/>
                </a:solidFill>
                <a:cs typeface="Quattrocento Sans" pitchFamily="34" charset="-120"/>
              </a:rPr>
              <a:t>97.99</a:t>
            </a:r>
            <a:r>
              <a:rPr lang="en-US" altLang="zh-CN" sz="6600" dirty="0">
                <a:solidFill>
                  <a:srgbClr val="FFFFFF"/>
                </a:solidFill>
                <a:cs typeface="Quattrocento Sans" pitchFamily="34" charset="-120"/>
              </a:rPr>
              <a:t>%</a:t>
            </a:r>
            <a:endParaRPr lang="en-US" sz="6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64411"/>
            <a:ext cx="666623" cy="666623"/>
          </a:xfrm>
          <a:custGeom>
            <a:avLst/>
            <a:gdLst/>
            <a:ahLst/>
            <a:cxnLst/>
            <a:rect l="l" t="t" r="r" b="b"/>
            <a:pathLst>
              <a:path w="666623" h="666623">
                <a:moveTo>
                  <a:pt x="333311" y="0"/>
                </a:moveTo>
                <a:lnTo>
                  <a:pt x="666623" y="333311"/>
                </a:lnTo>
                <a:lnTo>
                  <a:pt x="333311" y="666623"/>
                </a:lnTo>
                <a:lnTo>
                  <a:pt x="0" y="333311"/>
                </a:lnTo>
                <a:close/>
              </a:path>
            </a:pathLst>
          </a:custGeom>
          <a:solidFill>
            <a:srgbClr val="0F1B3D"/>
          </a:solidFill>
        </p:spPr>
      </p:sp>
      <p:sp>
        <p:nvSpPr>
          <p:cNvPr id="5" name="Text 3"/>
          <p:cNvSpPr/>
          <p:nvPr/>
        </p:nvSpPr>
        <p:spPr>
          <a:xfrm>
            <a:off x="1193800" y="2794000"/>
            <a:ext cx="2032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总结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SUMMARY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193800" y="3937000"/>
            <a:ext cx="2540000" cy="76200"/>
          </a:xfrm>
          <a:prstGeom prst="rect">
            <a:avLst/>
          </a:prstGeom>
          <a:solidFill>
            <a:srgbClr val="4361EE"/>
          </a:solidFill>
        </p:spPr>
      </p:sp>
      <p:sp>
        <p:nvSpPr>
          <p:cNvPr id="7" name="Shape 5"/>
          <p:cNvSpPr/>
          <p:nvPr/>
        </p:nvSpPr>
        <p:spPr>
          <a:xfrm>
            <a:off x="13716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96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506611" y="316557"/>
                </a:moveTo>
                <a:lnTo>
                  <a:pt x="387548" y="507057"/>
                </a:lnTo>
                <a:cubicBezTo>
                  <a:pt x="381298" y="517029"/>
                  <a:pt x="370582" y="523280"/>
                  <a:pt x="358825" y="523875"/>
                </a:cubicBezTo>
                <a:cubicBezTo>
                  <a:pt x="347067" y="524470"/>
                  <a:pt x="335756" y="519113"/>
                  <a:pt x="328761" y="509587"/>
                </a:cubicBezTo>
                <a:lnTo>
                  <a:pt x="257324" y="414337"/>
                </a:lnTo>
                <a:cubicBezTo>
                  <a:pt x="245418" y="398562"/>
                  <a:pt x="248692" y="376238"/>
                  <a:pt x="264468" y="364331"/>
                </a:cubicBezTo>
                <a:cubicBezTo>
                  <a:pt x="280243" y="352425"/>
                  <a:pt x="302568" y="355699"/>
                  <a:pt x="314474" y="371475"/>
                </a:cubicBezTo>
                <a:lnTo>
                  <a:pt x="354657" y="425053"/>
                </a:lnTo>
                <a:lnTo>
                  <a:pt x="446038" y="278755"/>
                </a:lnTo>
                <a:cubicBezTo>
                  <a:pt x="456456" y="262086"/>
                  <a:pt x="478482" y="256877"/>
                  <a:pt x="495300" y="267444"/>
                </a:cubicBezTo>
                <a:cubicBezTo>
                  <a:pt x="512118" y="278011"/>
                  <a:pt x="517178" y="299889"/>
                  <a:pt x="506611" y="316706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9" name="Text 7"/>
          <p:cNvSpPr/>
          <p:nvPr/>
        </p:nvSpPr>
        <p:spPr>
          <a:xfrm>
            <a:off x="18796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方法优势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98171" y="7111999"/>
            <a:ext cx="5896429" cy="40660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200" dirty="0">
                <a:latin typeface="+mn-ea"/>
              </a:rPr>
              <a:t>元学习范式 → </a:t>
            </a:r>
            <a:r>
              <a:rPr lang="en-US" altLang="zh-CN" sz="3200" dirty="0">
                <a:latin typeface="+mn-ea"/>
              </a:rPr>
              <a:t>5</a:t>
            </a:r>
            <a:r>
              <a:rPr lang="zh-CN" altLang="en-US" sz="3200" dirty="0">
                <a:latin typeface="+mn-ea"/>
              </a:rPr>
              <a:t>张样本快速适应新类别</a:t>
            </a:r>
          </a:p>
          <a:p>
            <a:r>
              <a:rPr lang="en-US" altLang="zh-CN" sz="3200" dirty="0">
                <a:latin typeface="+mn-ea"/>
              </a:rPr>
              <a:t>-</a:t>
            </a:r>
            <a:r>
              <a:rPr lang="zh-CN" altLang="en-US" sz="3200" dirty="0">
                <a:latin typeface="+mn-ea"/>
              </a:rPr>
              <a:t>原型网络 → 计算高效、可解释性强</a:t>
            </a:r>
          </a:p>
          <a:p>
            <a:r>
              <a:rPr lang="en-US" altLang="zh-CN" sz="3200" dirty="0">
                <a:latin typeface="+mn-ea"/>
              </a:rPr>
              <a:t>-</a:t>
            </a:r>
            <a:r>
              <a:rPr lang="zh-CN" altLang="en-US" sz="3200" dirty="0">
                <a:latin typeface="+mn-ea"/>
              </a:rPr>
              <a:t>轻量</a:t>
            </a:r>
            <a:r>
              <a:rPr lang="en-US" altLang="zh-CN" sz="3200" dirty="0">
                <a:latin typeface="+mn-ea"/>
              </a:rPr>
              <a:t>CNN → </a:t>
            </a:r>
            <a:r>
              <a:rPr lang="zh-CN" altLang="en-US" sz="3200" dirty="0">
                <a:latin typeface="+mn-ea"/>
              </a:rPr>
              <a:t>普通</a:t>
            </a:r>
            <a:r>
              <a:rPr lang="en-US" altLang="zh-CN" sz="3200" dirty="0">
                <a:latin typeface="+mn-ea"/>
              </a:rPr>
              <a:t>CPU</a:t>
            </a:r>
            <a:r>
              <a:rPr lang="zh-CN" altLang="en-US" sz="3200" dirty="0">
                <a:latin typeface="+mn-ea"/>
              </a:rPr>
              <a:t>可运行，代码模块化</a:t>
            </a:r>
            <a:endParaRPr lang="en-US" sz="32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106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Shape 10"/>
          <p:cNvSpPr/>
          <p:nvPr/>
        </p:nvSpPr>
        <p:spPr>
          <a:xfrm>
            <a:off x="93345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14759" y="0"/>
                </a:moveTo>
                <a:lnTo>
                  <a:pt x="548134" y="0"/>
                </a:lnTo>
                <a:cubicBezTo>
                  <a:pt x="587573" y="0"/>
                  <a:pt x="619720" y="32445"/>
                  <a:pt x="618232" y="71735"/>
                </a:cubicBezTo>
                <a:cubicBezTo>
                  <a:pt x="617934" y="79623"/>
                  <a:pt x="617637" y="87511"/>
                  <a:pt x="617190" y="95250"/>
                </a:cubicBezTo>
                <a:lnTo>
                  <a:pt x="691009" y="95250"/>
                </a:lnTo>
                <a:cubicBezTo>
                  <a:pt x="729853" y="95250"/>
                  <a:pt x="764084" y="127397"/>
                  <a:pt x="761107" y="169366"/>
                </a:cubicBezTo>
                <a:cubicBezTo>
                  <a:pt x="749945" y="323701"/>
                  <a:pt x="671066" y="408533"/>
                  <a:pt x="585490" y="452884"/>
                </a:cubicBezTo>
                <a:cubicBezTo>
                  <a:pt x="561975" y="465088"/>
                  <a:pt x="538014" y="474166"/>
                  <a:pt x="515243" y="480864"/>
                </a:cubicBezTo>
                <a:cubicBezTo>
                  <a:pt x="485180" y="523429"/>
                  <a:pt x="453926" y="545902"/>
                  <a:pt x="429071" y="557957"/>
                </a:cubicBezTo>
                <a:lnTo>
                  <a:pt x="429071" y="666750"/>
                </a:lnTo>
                <a:lnTo>
                  <a:pt x="524321" y="666750"/>
                </a:lnTo>
                <a:cubicBezTo>
                  <a:pt x="550664" y="666750"/>
                  <a:pt x="571946" y="688032"/>
                  <a:pt x="571946" y="714375"/>
                </a:cubicBezTo>
                <a:cubicBezTo>
                  <a:pt x="571946" y="740718"/>
                  <a:pt x="550664" y="762000"/>
                  <a:pt x="524321" y="762000"/>
                </a:cubicBezTo>
                <a:lnTo>
                  <a:pt x="238571" y="762000"/>
                </a:lnTo>
                <a:cubicBezTo>
                  <a:pt x="212229" y="762000"/>
                  <a:pt x="190946" y="740718"/>
                  <a:pt x="190946" y="714375"/>
                </a:cubicBezTo>
                <a:cubicBezTo>
                  <a:pt x="190946" y="688032"/>
                  <a:pt x="212229" y="666750"/>
                  <a:pt x="238571" y="666750"/>
                </a:cubicBezTo>
                <a:lnTo>
                  <a:pt x="333821" y="666750"/>
                </a:lnTo>
                <a:lnTo>
                  <a:pt x="333821" y="557957"/>
                </a:lnTo>
                <a:cubicBezTo>
                  <a:pt x="310009" y="546497"/>
                  <a:pt x="280392" y="525214"/>
                  <a:pt x="251520" y="486073"/>
                </a:cubicBezTo>
                <a:cubicBezTo>
                  <a:pt x="224135" y="478929"/>
                  <a:pt x="194370" y="468064"/>
                  <a:pt x="165348" y="451693"/>
                </a:cubicBezTo>
                <a:cubicBezTo>
                  <a:pt x="84832" y="406598"/>
                  <a:pt x="12204" y="321618"/>
                  <a:pt x="1786" y="169069"/>
                </a:cubicBezTo>
                <a:cubicBezTo>
                  <a:pt x="-1042" y="127248"/>
                  <a:pt x="33040" y="95101"/>
                  <a:pt x="71884" y="95101"/>
                </a:cubicBezTo>
                <a:lnTo>
                  <a:pt x="145703" y="95101"/>
                </a:lnTo>
                <a:cubicBezTo>
                  <a:pt x="145256" y="87362"/>
                  <a:pt x="144959" y="79623"/>
                  <a:pt x="144661" y="71586"/>
                </a:cubicBezTo>
                <a:cubicBezTo>
                  <a:pt x="143173" y="32147"/>
                  <a:pt x="175320" y="-149"/>
                  <a:pt x="214759" y="-149"/>
                </a:cubicBezTo>
                <a:close/>
                <a:moveTo>
                  <a:pt x="151061" y="166688"/>
                </a:moveTo>
                <a:lnTo>
                  <a:pt x="73075" y="166688"/>
                </a:lnTo>
                <a:cubicBezTo>
                  <a:pt x="82302" y="292745"/>
                  <a:pt x="140196" y="355848"/>
                  <a:pt x="199876" y="389334"/>
                </a:cubicBezTo>
                <a:cubicBezTo>
                  <a:pt x="178445" y="333821"/>
                  <a:pt x="160734" y="261342"/>
                  <a:pt x="151061" y="166688"/>
                </a:cubicBezTo>
                <a:close/>
                <a:moveTo>
                  <a:pt x="565547" y="382191"/>
                </a:moveTo>
                <a:cubicBezTo>
                  <a:pt x="625822" y="346770"/>
                  <a:pt x="680293" y="283815"/>
                  <a:pt x="689521" y="166688"/>
                </a:cubicBezTo>
                <a:lnTo>
                  <a:pt x="611684" y="166688"/>
                </a:lnTo>
                <a:cubicBezTo>
                  <a:pt x="602456" y="257324"/>
                  <a:pt x="585788" y="327720"/>
                  <a:pt x="565547" y="382191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3" name="Text 11"/>
          <p:cNvSpPr/>
          <p:nvPr/>
        </p:nvSpPr>
        <p:spPr>
          <a:xfrm>
            <a:off x="93345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实验效果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334500" y="7112000"/>
            <a:ext cx="5715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en-US" sz="3200" dirty="0" err="1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最终准确率较高</a:t>
            </a:r>
            <a:endParaRPr lang="en-US" sz="3200" dirty="0">
              <a:latin typeface="+mn-ea"/>
            </a:endParaRPr>
          </a:p>
          <a:p>
            <a:pPr algn="l">
              <a:spcBef>
                <a:spcPts val="1600"/>
              </a:spcBef>
            </a:pPr>
            <a:r>
              <a:rPr 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en-US" sz="3200" dirty="0" err="1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Omniglot</a:t>
            </a:r>
            <a:r>
              <a:rPr 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 5-way 5-shot → 97.77% 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准确率</a:t>
            </a:r>
          </a:p>
          <a:p>
            <a:pPr algn="l">
              <a:spcBef>
                <a:spcPts val="1600"/>
              </a:spcBef>
            </a:pPr>
            <a:r>
              <a:rPr lang="en-US" altLang="zh-CN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训练损失稳定下降，</a:t>
            </a:r>
            <a:r>
              <a:rPr lang="en-US" altLang="zh-CN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300 </a:t>
            </a:r>
            <a:r>
              <a:rPr 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episodes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收敛</a:t>
            </a:r>
          </a:p>
          <a:p>
            <a:pPr algn="l">
              <a:spcBef>
                <a:spcPts val="1600"/>
              </a:spcBef>
            </a:pPr>
            <a:r>
              <a:rPr lang="en-US" altLang="zh-CN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在未见类别上验证泛化能力</a:t>
            </a:r>
            <a:endParaRPr lang="en-US" sz="3200" dirty="0">
              <a:latin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6281400" y="4826000"/>
            <a:ext cx="6731000" cy="736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7894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81223" y="571500"/>
                </a:moveTo>
                <a:cubicBezTo>
                  <a:pt x="595709" y="538311"/>
                  <a:pt x="624681" y="508248"/>
                  <a:pt x="657423" y="482352"/>
                </a:cubicBezTo>
                <a:cubicBezTo>
                  <a:pt x="722312" y="431155"/>
                  <a:pt x="762000" y="361950"/>
                  <a:pt x="762000" y="285750"/>
                </a:cubicBezTo>
                <a:cubicBezTo>
                  <a:pt x="762000" y="127992"/>
                  <a:pt x="591344" y="0"/>
                  <a:pt x="381000" y="0"/>
                </a:cubicBezTo>
                <a:cubicBezTo>
                  <a:pt x="170656" y="0"/>
                  <a:pt x="0" y="127992"/>
                  <a:pt x="0" y="285750"/>
                </a:cubicBezTo>
                <a:cubicBezTo>
                  <a:pt x="0" y="361950"/>
                  <a:pt x="39688" y="431155"/>
                  <a:pt x="104577" y="482352"/>
                </a:cubicBezTo>
                <a:cubicBezTo>
                  <a:pt x="137319" y="508248"/>
                  <a:pt x="166489" y="538311"/>
                  <a:pt x="180777" y="571500"/>
                </a:cubicBezTo>
                <a:lnTo>
                  <a:pt x="581025" y="571500"/>
                </a:lnTo>
                <a:close/>
                <a:moveTo>
                  <a:pt x="571500" y="642938"/>
                </a:moveTo>
                <a:lnTo>
                  <a:pt x="190500" y="642938"/>
                </a:lnTo>
                <a:lnTo>
                  <a:pt x="190500" y="666750"/>
                </a:lnTo>
                <a:cubicBezTo>
                  <a:pt x="190500" y="732532"/>
                  <a:pt x="261541" y="785813"/>
                  <a:pt x="349250" y="785813"/>
                </a:cubicBezTo>
                <a:lnTo>
                  <a:pt x="412750" y="785813"/>
                </a:lnTo>
                <a:cubicBezTo>
                  <a:pt x="500459" y="785813"/>
                  <a:pt x="571500" y="732532"/>
                  <a:pt x="571500" y="666750"/>
                </a:cubicBezTo>
                <a:lnTo>
                  <a:pt x="571500" y="642938"/>
                </a:lnTo>
                <a:close/>
                <a:moveTo>
                  <a:pt x="365125" y="166688"/>
                </a:moveTo>
                <a:cubicBezTo>
                  <a:pt x="286147" y="166688"/>
                  <a:pt x="222250" y="214610"/>
                  <a:pt x="222250" y="273844"/>
                </a:cubicBezTo>
                <a:cubicBezTo>
                  <a:pt x="222250" y="293638"/>
                  <a:pt x="201017" y="309563"/>
                  <a:pt x="174625" y="309563"/>
                </a:cubicBezTo>
                <a:cubicBezTo>
                  <a:pt x="148233" y="309563"/>
                  <a:pt x="127000" y="293638"/>
                  <a:pt x="127000" y="273844"/>
                </a:cubicBezTo>
                <a:cubicBezTo>
                  <a:pt x="127000" y="175171"/>
                  <a:pt x="233561" y="95250"/>
                  <a:pt x="365125" y="95250"/>
                </a:cubicBezTo>
                <a:cubicBezTo>
                  <a:pt x="391517" y="95250"/>
                  <a:pt x="412750" y="111175"/>
                  <a:pt x="412750" y="130969"/>
                </a:cubicBezTo>
                <a:cubicBezTo>
                  <a:pt x="412750" y="150763"/>
                  <a:pt x="391517" y="166688"/>
                  <a:pt x="365125" y="166688"/>
                </a:cubicBezTo>
                <a:close/>
              </a:path>
            </a:pathLst>
          </a:custGeom>
          <a:solidFill>
            <a:srgbClr val="4361EE"/>
          </a:solidFill>
        </p:spPr>
      </p:sp>
      <p:sp>
        <p:nvSpPr>
          <p:cNvPr id="17" name="Text 15"/>
          <p:cNvSpPr/>
          <p:nvPr/>
        </p:nvSpPr>
        <p:spPr>
          <a:xfrm>
            <a:off x="16789400" y="6350000"/>
            <a:ext cx="571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展望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789400" y="7111999"/>
            <a:ext cx="6070600" cy="4308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数据增强 </a:t>
            </a: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/ 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学习率调度 </a:t>
            </a: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/ 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更多轮次</a:t>
            </a:r>
          </a:p>
          <a:p>
            <a:pPr algn="l">
              <a:lnSpc>
                <a:spcPct val="200000"/>
              </a:lnSpc>
            </a:pP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更深网络（</a:t>
            </a:r>
            <a:r>
              <a:rPr lang="en-US" altLang="zh-CN" sz="3000" dirty="0" err="1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ResNet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）</a:t>
            </a: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/ Transformer</a:t>
            </a:r>
          </a:p>
          <a:p>
            <a:pPr algn="l">
              <a:lnSpc>
                <a:spcPct val="200000"/>
              </a:lnSpc>
            </a:pP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-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跨域迁移至复杂数据集 </a:t>
            </a:r>
            <a:r>
              <a:rPr lang="en-US" altLang="zh-CN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/ </a:t>
            </a:r>
            <a:r>
              <a:rPr lang="zh-CN" altLang="en-US" sz="3000" dirty="0">
                <a:solidFill>
                  <a:srgbClr val="000000"/>
                </a:solidFill>
                <a:latin typeface="+mn-ea"/>
                <a:cs typeface="Quattrocento Sans" pitchFamily="34" charset="-120"/>
              </a:rPr>
              <a:t>实际应用场景</a:t>
            </a:r>
            <a:endParaRPr lang="en-US" sz="30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27500" y="3302000"/>
            <a:ext cx="16103600" cy="0"/>
          </a:xfrm>
          <a:prstGeom prst="straightConnector1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2984500" y="3810000"/>
            <a:ext cx="18389600" cy="304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6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YOU!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114800" y="7112000"/>
            <a:ext cx="161544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字符识别的小样本图像分类系统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0" y="8128000"/>
            <a:ext cx="161544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人工智能小组作业汇报  |  请老师批评指正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27500" y="9144000"/>
            <a:ext cx="16103600" cy="0"/>
          </a:xfrm>
          <a:prstGeom prst="straightConnector1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,&quot;left&quot;:148,&quot;top&quot;:420,&quot;width&quot;:162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1926</Words>
  <Application>Microsoft Office PowerPoint</Application>
  <PresentationFormat>自定义</PresentationFormat>
  <Paragraphs>273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Coda</vt:lpstr>
      <vt:lpstr>New time rome</vt:lpstr>
      <vt:lpstr>Arial</vt:lpstr>
      <vt:lpstr>Calibri</vt:lpstr>
      <vt:lpstr>Quattrocento Sans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字符识别的小样本图像分类系统</dc:title>
  <dc:subject>字符识别的小样本图像分类系统</dc:subject>
  <dc:creator>Kimi</dc:creator>
  <cp:lastModifiedBy>ST CHEN</cp:lastModifiedBy>
  <cp:revision>20</cp:revision>
  <dcterms:created xsi:type="dcterms:W3CDTF">2026-06-16T15:45:00Z</dcterms:created>
  <dcterms:modified xsi:type="dcterms:W3CDTF">2026-06-17T11:07:24Z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字符识别的小样本图像分类系统","ContentProducer":"001191110108MACG2KBH8F10000","ProduceID":"19ed116c-5782-8dac-8000-0000fbbb7f5e","ReservedCode1":"","ContentPropagator":"001191110108MACG2KBH8F20000","PropagateID":"19ed10fb-20e2-8a5a-8000-09658824b125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73A5834F940042298E854CD2D1FAED8F_12</vt:lpwstr>
  </property>
</Properties>
</file>